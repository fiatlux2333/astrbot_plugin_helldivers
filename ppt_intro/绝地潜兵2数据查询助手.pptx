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6" Type="http://schemas.openxmlformats.org/officeDocument/2006/relationships/viewProps" Target="viewProps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2" Type="http://schemas.openxmlformats.org/officeDocument/2006/relationships/slide" Target="slides/slide2.xml" /><Relationship Id="rId15" Type="http://schemas.openxmlformats.org/officeDocument/2006/relationships/tableStyles" Target="tableStyles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5" Type="http://schemas.openxmlformats.org/officeDocument/2006/relationships/image" Target="media/image11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0.svg" /><Relationship Id="rId1" Type="http://schemas.openxmlformats.org/officeDocument/2006/relationships/image" Target="media/image7.svg" /><Relationship Id="rId2" Type="http://schemas.openxmlformats.org/officeDocument/2006/relationships/image" Target="media/image8.svg" /><Relationship Id="rId3" Type="http://schemas.openxmlformats.org/officeDocument/2006/relationships/image" Target="media/image9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3" Type="http://schemas.openxmlformats.org/officeDocument/2006/relationships/image" Target="media/image14.svg" /><Relationship Id="rId2" Type="http://schemas.openxmlformats.org/officeDocument/2006/relationships/image" Target="media/image13.svg" /><Relationship Id="rId4" Type="http://schemas.openxmlformats.org/officeDocument/2006/relationships/image" Target="media/image15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7.svg" /><Relationship Id="rId1" Type="http://schemas.openxmlformats.org/officeDocument/2006/relationships/image" Target="media/image16.svg" /><Relationship Id="rId3" Type="http://schemas.openxmlformats.org/officeDocument/2006/relationships/image" Target="media/image1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Relationship Id="rId2" Type="http://schemas.openxmlformats.org/officeDocument/2006/relationships/image" Target="media/image20.svg" /><Relationship Id="rId3" Type="http://schemas.openxmlformats.org/officeDocument/2006/relationships/image" Target="media/image21.svg" /><Relationship Id="rId4" Type="http://schemas.openxmlformats.org/officeDocument/2006/relationships/image" Target="media/image22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Relationship Id="rId2" Type="http://schemas.openxmlformats.org/officeDocument/2006/relationships/image" Target="media/image24.svg" /><Relationship Id="rId4" Type="http://schemas.openxmlformats.org/officeDocument/2006/relationships/image" Target="media/image26.svg" /><Relationship Id="rId3" Type="http://schemas.openxmlformats.org/officeDocument/2006/relationships/image" Target="media/image2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7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8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30.svg" /><Relationship Id="rId2" Type="http://schemas.openxmlformats.org/officeDocument/2006/relationships/image" Target="media/image29.svg" /><Relationship Id="rId5" Type="http://schemas.openxmlformats.org/officeDocument/2006/relationships/image" Target="media/image13.svg" /><Relationship Id="rId4" Type="http://schemas.openxmlformats.org/officeDocument/2006/relationships/image" Target="media/image31.svg" /><Relationship Id="rId6" Type="http://schemas.openxmlformats.org/officeDocument/2006/relationships/image" Target="media/image17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3" Type="http://schemas.openxmlformats.org/officeDocument/2006/relationships/image" Target="media/image6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'1280px', height:'720px', background:'#0B1424', position:'relative', overflow:'hidden' }}&gt;&#10;  &lt;svg width='1280' height='720' viewBox='0 0 1280 720' style={{ position:'absolute', top:0, left:0 }}&gt;&#10;    &lt;defs&gt;&#10;      &lt;radialGradient id='neb' cx='68%' cy='35%' r='55%'&gt;&#10;        &lt;stop offset='0%' stopColor='#16335C' stopOpacity='0.95' /&gt;&#10;        &lt;stop offset='100%' stopColor='#0B1424' stopOpacity='0' /&gt;&#10;      &lt;/radialGradient&gt;&#10;    &lt;/defs&gt;&#10;    &lt;rect width='1280' height='720' fill='#0B1424' /&gt;&#10;    &lt;ellipse cx='880' cy='250' rx='780' ry='440' fill='url(#neb)' /&gt;&#10;    &lt;circle cx='980' cy='170' r='2.6' fill='#F5A623' /&gt;&#10;    &lt;circle cx='1120' cy='320' r='2' fill='#EAF1FB' /&gt;&#10;    &lt;circle cx='1040' cy='470' r='3' fill='#3D9BE9' /&gt;&#10;    &lt;circle cx='760' cy='120' r='2' fill='#EAF1FB' /&gt;&#10;    &lt;circle cx='1180' cy='200' r='1.8' fill='#EAF1FB' /&gt;&#10;    &lt;circle cx='900' cy='560' r='2.2' fill='#EAF1FB' /&gt;&#10;    &lt;circle cx='1140' cy='540' r='1.6' fill='#EAF1FB' /&gt;&#10;    &lt;circle cx='820' cy='400' r='1.8' fill='#EAF1FB' /&gt;&#10;    &lt;circle cx='1060' cy='250' r='1.6' fill='#EAF1FB' /&gt;&#10;    &lt;circle cx='700' cy='300' r='1.5' fill='#EAF1FB' /&gt;&#10;    &lt;circle cx='1210' cy='400' r='2' fill='#EAF1FB' /&gt;&#10;    &lt;circle cx='960' cy='620' r='1.8' fill='#EAF1FB' /&gt;&#10;    &lt;circle cx='860' cy='230' r='2' fill='#3D9BE9' /&gt;&#10;    &lt;circle cx='1100' cy='420' r='2.4' fill='#EAF1FB' /&gt;&#10;    &lt;circle cx='900' cy='90' r='1.6' fill='#EAF1FB' /&gt;&#10;    &lt;circle cx='1150' cy='90' r='1.5' fill='#EAF1FB' /&gt;&#10;    &lt;line x1='980' y1='170' x2='1040' y2='470' stroke='#3D9BE9' strokeOpacity='0.25' strokeWidth='1' /&gt;&#10;    &lt;line x1='1040' y1='470' x2='1100' y2='420' stroke='#3D9BE9' strokeOpacity='0.2' strokeWidth='1' /&gt;&#10;    &lt;line x1='980' y1='170' x2='1120' y2='320' stroke='#F5A623' strokeOpacity='0.2' strokeWidth='1' /&gt;&#10;    &lt;ellipse cx='640' cy='360' rx='900' ry='360' fill='none' stroke='#3D9BE9' strokeOpacity='0.08' strokeWidth='1' /&gt;&#10;    &lt;ellipse cx='640' cy='360' rx='700' ry='280' fill='none' stroke='#3D9BE9' strokeOpacity='0.06' strokeWidth='1' /&gt;&#10;  &lt;/svg&gt;&#10;  &lt;Box style={{ position:'absolute', top:0, left:0, width:'100%', height:'100%', background:'rgba(11,20,36,0.45)' }} /&gt;&#10;  &lt;Box style={{ position:'relative', zIndex:2, height:'100%', padding:'0 90px', flexDirection:'column', justifyContent:'center' }}&gt;&#10;    &lt;Text style={{ fontSize:18, letterSpacing:6, color:'#F5A623', fontWeight:'bold', marginBottom:18 }}&gt;ASTRBOT · 银河战争情报插件&lt;/Text&gt;&#10;    &lt;Text style={{ fontSize:74, fontWeight:'bold', color:'#EAF1FB', lineHeight:1.1 }}&gt;绝地潜兵2&lt;/Text&gt;&#10;    &lt;Text style={{ fontSize:74, fontWeight:'bold', color:'#F5A623', lineHeight:1.1, marginBottom:26 }}&gt;数据查询助手&lt;/Text&gt;&#10;    &lt;Box style={{ width:120, height:4, background:'#3D9BE9', marginBottom:26 }} /&gt;&#10;    &lt;Text style={{ fontSize:26, color:'#9FB3CC', lineHeight:1.6, marginBottom:16 }}&gt;中文情报卡 · Companion 翻译截图 · 银河战争地图 · DSS · 银河快报订阅&lt;/Text&gt;&#10;    &lt;Text style={{ fontSize:20, color:'#8FA3BF' }}&gt;v1.8.3　|　作者：牡蛎　|　基于 AstrBot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>
              <a:alpha val="45000"/>
            </a:srgbClr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57250" y="1609725"/>
            <a:ext cx="1047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F5A623"/>
                </a:solidFill>
                <a:latin typeface="Microsoft YaHei"/>
                <a:ea typeface="Microsoft YaHei"/>
              </a:rPr>
              <a:t>ASTRBOT · </a:t>
            </a:r>
            <a:r>
              <a:rPr lang="zh-CN" sz="1350" b="1" spc="450">
                <a:solidFill>
                  <a:srgbClr val="F5A623"/>
                </a:solidFill>
                <a:latin typeface="Microsoft YaHei"/>
                <a:ea typeface="Microsoft YaHei"/>
              </a:rPr>
              <a:t>银河战争情报插件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1990725"/>
            <a:ext cx="10477500" cy="9334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550" b="1">
                <a:solidFill>
                  <a:srgbClr val="EAF1FB"/>
                </a:solidFill>
                <a:latin typeface="Microsoft YaHei"/>
                <a:ea typeface="Microsoft YaHei"/>
              </a:rPr>
              <a:t>绝地潜兵</a:t>
            </a:r>
            <a:r>
              <a:rPr lang="en-US" sz="5550" b="1">
                <a:solidFill>
                  <a:srgbClr val="EAF1F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57250" y="2924175"/>
            <a:ext cx="10477500" cy="9334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550" b="1">
                <a:solidFill>
                  <a:srgbClr val="F5A623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57250" y="4105275"/>
            <a:ext cx="1143000" cy="38100"/>
          </a:xfrm>
          <a:prstGeom prst="rect">
            <a:avLst/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57250" y="4391025"/>
            <a:ext cx="104775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950">
                <a:solidFill>
                  <a:srgbClr val="9FB3CC"/>
                </a:solidFill>
                <a:latin typeface="Microsoft YaHei"/>
                <a:ea typeface="Microsoft YaHei"/>
              </a:rPr>
              <a:t>中文情报卡</a:t>
            </a:r>
            <a:r>
              <a:rPr lang="en-US" sz="1950">
                <a:solidFill>
                  <a:srgbClr val="9FB3CC"/>
                </a:solidFill>
                <a:latin typeface="Microsoft YaHei"/>
                <a:ea typeface="Microsoft YaHei"/>
              </a:rPr>
              <a:t> · Companion </a:t>
            </a:r>
            <a:r>
              <a:rPr lang="zh-CN" sz="1950">
                <a:solidFill>
                  <a:srgbClr val="9FB3CC"/>
                </a:solidFill>
                <a:latin typeface="Microsoft YaHei"/>
                <a:ea typeface="Microsoft YaHei"/>
              </a:rPr>
              <a:t>翻译截图</a:t>
            </a:r>
            <a:r>
              <a:rPr lang="en-US" sz="1950">
                <a:solidFill>
                  <a:srgbClr val="9FB3CC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9FB3CC"/>
                </a:solidFill>
                <a:latin typeface="Microsoft YaHei"/>
                <a:ea typeface="Microsoft YaHei"/>
              </a:rPr>
              <a:t>银河战争地图</a:t>
            </a:r>
            <a:r>
              <a:rPr lang="en-US" sz="1950">
                <a:solidFill>
                  <a:srgbClr val="9FB3CC"/>
                </a:solidFill>
                <a:latin typeface="Microsoft YaHei"/>
                <a:ea typeface="Microsoft YaHei"/>
              </a:rPr>
              <a:t> · DSS · </a:t>
            </a:r>
            <a:r>
              <a:rPr lang="zh-CN" sz="1950">
                <a:solidFill>
                  <a:srgbClr val="9FB3CC"/>
                </a:solidFill>
                <a:latin typeface="Microsoft YaHei"/>
                <a:ea typeface="Microsoft YaHei"/>
              </a:rPr>
              <a:t>银河快报订阅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57250" y="5019675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FA3BF"/>
                </a:solidFill>
                <a:latin typeface="Microsoft YaHei"/>
                <a:ea typeface="Microsoft YaHei"/>
              </a:rPr>
              <a:t>v1.8.3</a:t>
            </a:r>
            <a:r>
              <a:rPr lang="zh-CN" sz="1500">
                <a:solidFill>
                  <a:srgbClr val="8FA3BF"/>
                </a:solidFill>
                <a:latin typeface="Microsoft YaHei"/>
                <a:ea typeface="Microsoft YaHei"/>
              </a:rPr>
              <a:t>　</a:t>
            </a:r>
            <a:r>
              <a:rPr lang="en-US" sz="1500">
                <a:solidFill>
                  <a:srgbClr val="8FA3BF"/>
                </a:solidFill>
                <a:latin typeface="Microsoft YaHei"/>
                <a:ea typeface="Microsoft YaHei"/>
              </a:rPr>
              <a:t>|</a:t>
            </a:r>
            <a:r>
              <a:rPr lang="zh-CN" sz="1500">
                <a:solidFill>
                  <a:srgbClr val="8FA3BF"/>
                </a:solidFill>
                <a:latin typeface="Microsoft YaHei"/>
                <a:ea typeface="Microsoft YaHei"/>
              </a:rPr>
              <a:t>　作者：牡蛎　</a:t>
            </a:r>
            <a:r>
              <a:rPr lang="en-US" sz="1500">
                <a:solidFill>
                  <a:srgbClr val="8FA3BF"/>
                </a:solidFill>
                <a:latin typeface="Microsoft YaHei"/>
                <a:ea typeface="Microsoft YaHei"/>
              </a:rPr>
              <a:t>|</a:t>
            </a:r>
            <a:r>
              <a:rPr lang="zh-CN" sz="1500">
                <a:solidFill>
                  <a:srgbClr val="8FA3BF"/>
                </a:solidFill>
                <a:latin typeface="Microsoft YaHei"/>
                <a:ea typeface="Microsoft YaHei"/>
              </a:rPr>
              <a:t>　基于</a:t>
            </a:r>
            <a:r>
              <a:rPr lang="en-US" sz="1500">
                <a:solidFill>
                  <a:srgbClr val="8FA3BF"/>
                </a:solidFill>
                <a:latin typeface="Microsoft YaHei"/>
                <a:ea typeface="Microsoft YaHei"/>
              </a:rPr>
              <a:t> AstrBot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2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目录&lt;Text style={{ fontSize:20, color:'#8FA3BF', fontWeight:'normal' }}&gt;　／　CONTENTS&lt;/Text&gt;&lt;/Text&gt;&#10;  &lt;/Box&gt;&#10;  &lt;Box style={{ height:504, flexDirection:'row', gap:32 }}&gt;&#10;    &lt;Box style={{ width:'34%', background:'linear-gradient(160deg,#16335C 0%,#0B1424 100%)', borderRadius:16, padding:32, justifyContent:'center' }}&gt;&#10;      &lt;FAIcon name='compass' style={{ fill:'#F5A623', width:56, height:56, marginBottom:18 }} /&gt;&#10;      &lt;Text style={{ fontSize:24, color:'#EAF1FB', fontWeight:'bold', lineHeight:1.5 }}&gt;四章看懂{'\n'}这个插件&lt;/Text&gt;&#10;      &lt;Text style={{ fontSize:15, color:'#8FA3BF', lineHeight:1.6, marginTop:12 }}&gt;从痛点价值到安装部署，一页不漏。&lt;/Text&gt;&#10;    &lt;/Box&gt;&#10;    &lt;Box style={{ flex:1, flexDirection:'column', justifyContent:'space-between', padding:'6px 0' }}&gt;&#10;      {[&#10;        { n:'01', ic:'exclamation-triangle', t:'痛点与价值', d:'为什么群里需要战略终端' },&#10;        { n:'02', ic:'crosshairs', t:'核心功能', d:'指令 / 中文情报卡 / 地图 / DSS / 银河快报' },&#10;        { n:'03', ic:'cogs', t:'技术底座', d:'架构设计与可靠性保障' },&#10;        { n:'04', ic:'rocket', t:'安装与生态', d:'三步部署到你的机器人' },&#10;      ].map((it, i) =&gt; (&#10;        &lt;Box key={i} style={{ flexDirection:'row', alignItems:'center', gap:20, background:'#10213B', borderRadius:12, padding:'18px 24px' }}&gt;&#10;          &lt;Text style={{ fontSize:34, fontWeight:'bold', color:'#3D9BE9', width:62 }}&gt;{it.n}&lt;/Text&gt;&#10;          &lt;Box style={{ width:52, height:52, borderRadius:12, background:'rgba(61,155,233,0.12)', justifyContent:'center', alignItems:'center' }}&gt;&#10;            &lt;FAIcon name={it.ic} style={{ fill:'#3D9BE9', width:26, height:26 }} /&gt;&#10;          &lt;/Box&gt;&#10;          &lt;Box style={{ flex:1 }}&gt;&#10;            &lt;Text style={{ fontSize:22, fontWeight:'bold', color:'#EAF1FB' }}&gt;{it.t}&lt;/Text&gt;&#10;            &lt;Text style={{ fontSize:16, color:'#8FA3BF' }}&gt;{it.d}&lt;/Text&gt;&#10;          &lt;/Box&gt;&#10;        &lt;/Box&gt;&#10;      ))}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0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36385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目录</a:t>
            </a: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　／　</a:t>
            </a:r>
            <a:r>
              <a:rPr lang="en-US" sz="2700" b="1">
                <a:solidFill>
                  <a:srgbClr val="EAF1FB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1104900"/>
            <a:ext cx="3733800" cy="4800600"/>
          </a:xfrm>
          <a:prstGeom prst="roundRect">
            <a:avLst>
              <a:gd name="adj" fmla="val 4082"/>
            </a:avLst>
          </a:prstGeom>
          <a:gradFill>
            <a:gsLst>
              <a:gs pos="0">
                <a:srgbClr val="16335C"/>
              </a:gs>
              <a:gs pos="100000">
                <a:srgbClr val="0B1424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2543175"/>
            <a:ext cx="533400" cy="53340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14400" y="3248025"/>
            <a:ext cx="3124200" cy="828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EAF1FB"/>
                </a:solidFill>
                <a:latin typeface="Microsoft YaHei"/>
                <a:ea typeface="Microsoft YaHei"/>
              </a:rPr>
              <a:t>四章看懂</a:t>
            </a:r>
            <a:endParaRPr/>
          </a:p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EAF1FB"/>
                </a:solidFill>
                <a:latin typeface="Microsoft YaHei"/>
                <a:ea typeface="Microsoft YaHei"/>
              </a:rPr>
              <a:t>这个插件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14400" y="4191000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3BF"/>
                </a:solidFill>
                <a:latin typeface="Microsoft YaHei"/>
                <a:ea typeface="Microsoft YaHei"/>
              </a:rPr>
              <a:t>从痛点价值到安装部署，一页不漏。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648200" y="1162050"/>
            <a:ext cx="6934200" cy="838200"/>
          </a:xfrm>
          <a:prstGeom prst="roundRect">
            <a:avLst>
              <a:gd name="adj" fmla="val 1363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876800" y="139065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D9BE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657850" y="13335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3D9BE9">
              <a:alpha val="12000"/>
            </a:srgbClr>
          </a:solidFill>
          <a:ln/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781675" y="1457325"/>
            <a:ext cx="247650" cy="24765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343650" y="1362075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痛点与价值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343650" y="161925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为什么群里需要战略终端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4648200" y="2447925"/>
            <a:ext cx="6934200" cy="838200"/>
          </a:xfrm>
          <a:prstGeom prst="roundRect">
            <a:avLst>
              <a:gd name="adj" fmla="val 1363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876800" y="2676525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D9BE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657850" y="26193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3D9BE9">
              <a:alpha val="12000"/>
            </a:srgbClr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781675" y="2743200"/>
            <a:ext cx="247650" cy="24765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343650" y="264795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核心功能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343650" y="290512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指令</a:t>
            </a: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中文情报卡</a:t>
            </a: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地图</a:t>
            </a: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 / DSS / </a:t>
            </a: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银河快报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4648200" y="3724275"/>
            <a:ext cx="6934200" cy="838200"/>
          </a:xfrm>
          <a:prstGeom prst="roundRect">
            <a:avLst>
              <a:gd name="adj" fmla="val 1363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876800" y="3952875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D9BE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657850" y="389572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3D9BE9">
              <a:alpha val="12000"/>
            </a:srgbClr>
          </a:solidFill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781675" y="4019550"/>
            <a:ext cx="247650" cy="24765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343650" y="392430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技术底座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343650" y="41814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架构设计与可靠性保障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648200" y="5010150"/>
            <a:ext cx="6934200" cy="838200"/>
          </a:xfrm>
          <a:prstGeom prst="roundRect">
            <a:avLst>
              <a:gd name="adj" fmla="val 1363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876800" y="523875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D9BE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657850" y="51816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3D9BE9">
              <a:alpha val="12000"/>
            </a:srgbClr>
          </a:solidFill>
          <a:ln/>
        </p:spPr>
        <p:txBody>
          <a:bodyPr/>
          <a:p/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781675" y="5305425"/>
            <a:ext cx="247650" cy="247650"/>
          </a:xfrm>
          <a:prstGeom prst="rect">
            <a:avLst/>
          </a:prstGeom>
          <a:ln/>
        </p:spPr>
      </p:pic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343650" y="5210175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安装与生态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343650" y="5467350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三步部署到你的机器人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6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群里的战报，还靠手动转？&lt;/Text&gt;&#10;  &lt;/Box&gt;&#10;  &lt;Box style={{ height:504, flexDirection:'row', gap:28 }}&gt;&#10;    &lt;Box style={{ width:'60%', flexDirection:'column', justifyContent:'space-between' }}&gt;&#10;      {[&#10;        { ic:'sync', c:'#F5A623', t:'手动刷网页', d:'战报靠人肉刷 Companion、Steam，慢且容易漏掉关键节点' },&#10;        { ic:'language', c:'#3D9BE9', t:'英文看不懂', d:'原站全英文术语，新兵一脸懵，情报传到位却读不出重点' },&#10;        { ic:'bell-slash', c:'#D64545', t:'战报错过', d:'B站银河快报发了才发现，群友早已错过这波进攻窗口' },&#10;      ].map((it, i) =&gt; (&#10;        &lt;Box key={i} style={{ flexDirection:'row', alignItems:'flex-start', gap:18, background:'#10213B', borderRadius:14, padding:'20px 24px' }}&gt;&#10;          &lt;Box style={{ width:54, height:54, borderRadius:14, background:'rgba(255,255,255,0.05)', justifyContent:'center', alignItems:'center', marginTop:2 }}&gt;&#10;            &lt;FAIcon name={it.ic} style={{ fill:it.c, width:28, height:28 }} /&gt;&#10;          &lt;/Box&gt;&#10;          &lt;Box style={{ flex:1 }}&gt;&#10;            &lt;Text style={{ fontSize:23, fontWeight:'bold', color:'#EAF1FB' }}&gt;{it.t}&lt;/Text&gt;&#10;            &lt;Text style={{ fontSize:18, color:'#9FB3CC', lineHeight:1.5, marginTop:4 }}&gt;{it.d}&lt;/Text&gt;&#10;          &lt;/Box&gt;&#10;        &lt;/Box&gt;&#10;      ))}&#10;    &lt;/Box&gt;&#10;    &lt;Box style={{ width:'40%', background:'linear-gradient(160deg,#16335C 0%,#0B1424 100%)', border:'2px solid #F5A623', borderRadius:16, padding:32, justifyContent:'center' }}&gt;&#10;      &lt;FAIcon name='check-circle' style={{ fill:'#F5A623', width:48, height:48, marginBottom:18 }} /&gt;&#10;      &lt;Text style={{ fontSize:30, fontWeight:'bold', color:'#F5A623', lineHeight:1.3 }}&gt;一个插件{'\n'}全包了&lt;/Text&gt;&#10;      &lt;Box style={{ width:80, height:3, background:'#3D9BE9', margin:'18px 0' }} /&gt;&#10;      &lt;Text style={{ fontSize:20, color:'#EAF1FB', lineHeight:1.9 }}&gt;&#10;        · 中文情报卡一键发群{'\n'}· 原网页自动翻译截图{'\n'}· 银河快报群内自动订阅&#10;      &lt;/Text&gt;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0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4114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群里的战报，还靠手动转？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1104900"/>
            <a:ext cx="6419850" cy="1000125"/>
          </a:xfrm>
          <a:prstGeom prst="roundRect">
            <a:avLst>
              <a:gd name="adj" fmla="val 13333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838200" y="13144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1438275"/>
            <a:ext cx="266700" cy="266700"/>
          </a:xfrm>
          <a:prstGeom prst="rect">
            <a:avLst/>
          </a:prstGeom>
          <a:ln/>
        </p:spPr>
      </p:pic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524000" y="1295400"/>
            <a:ext cx="52768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AF1FB"/>
                </a:solidFill>
                <a:latin typeface="Microsoft YaHei"/>
                <a:ea typeface="Microsoft YaHei"/>
              </a:rPr>
              <a:t>手动刷网页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524000" y="1600200"/>
            <a:ext cx="5276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战报靠人肉刷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 Companion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Steam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，慢且容易漏掉关键节点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3009900"/>
            <a:ext cx="6419850" cy="1000125"/>
          </a:xfrm>
          <a:prstGeom prst="roundRect">
            <a:avLst>
              <a:gd name="adj" fmla="val 13333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838200" y="32194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62025" y="3343275"/>
            <a:ext cx="266700" cy="26670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524000" y="3200400"/>
            <a:ext cx="52768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AF1FB"/>
                </a:solidFill>
                <a:latin typeface="Microsoft YaHei"/>
                <a:ea typeface="Microsoft YaHei"/>
              </a:rPr>
              <a:t>英文看不懂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524000" y="3505200"/>
            <a:ext cx="5276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原站全英文术语，新兵一脸懵，情报传到位却读不出重点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4905375"/>
            <a:ext cx="6419850" cy="1000125"/>
          </a:xfrm>
          <a:prstGeom prst="roundRect">
            <a:avLst>
              <a:gd name="adj" fmla="val 13333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838200" y="511492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62025" y="5238750"/>
            <a:ext cx="266700" cy="26670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524000" y="5095875"/>
            <a:ext cx="52768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AF1FB"/>
                </a:solidFill>
                <a:latin typeface="Microsoft YaHei"/>
                <a:ea typeface="Microsoft YaHei"/>
              </a:rPr>
              <a:t>战报错过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524000" y="5400675"/>
            <a:ext cx="5276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B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站银河快报发了才发现，群友早已错过这波进攻窗口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296150" y="1104900"/>
            <a:ext cx="4286250" cy="4800600"/>
          </a:xfrm>
          <a:prstGeom prst="roundRect">
            <a:avLst>
              <a:gd name="adj" fmla="val 3556"/>
            </a:avLst>
          </a:prstGeom>
          <a:gradFill>
            <a:gsLst>
              <a:gs pos="0">
                <a:srgbClr val="16335C"/>
              </a:gs>
              <a:gs pos="100000">
                <a:srgbClr val="0B1424"/>
              </a:gs>
            </a:gsLst>
            <a:lin ang="4200000" scaled="1"/>
          </a:gradFill>
          <a:ln w="25400">
            <a:solidFill>
              <a:srgbClr val="F5A623"/>
            </a:solidFill>
            <a:prstDash val="solid"/>
          </a:ln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00950" y="1905000"/>
            <a:ext cx="457200" cy="457200"/>
          </a:xfrm>
          <a:prstGeom prst="rect">
            <a:avLst/>
          </a:pr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600950" y="2533650"/>
            <a:ext cx="3676650" cy="895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5A623"/>
                </a:solidFill>
                <a:latin typeface="Microsoft YaHei"/>
                <a:ea typeface="Microsoft YaHei"/>
              </a:rPr>
              <a:t>一个插件</a:t>
            </a:r>
            <a:endParaRPr/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F5A623"/>
                </a:solidFill>
                <a:latin typeface="Microsoft YaHei"/>
                <a:ea typeface="Microsoft YaHei"/>
              </a:rPr>
              <a:t>全包了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7600950" y="3600450"/>
            <a:ext cx="762000" cy="28575"/>
          </a:xfrm>
          <a:prstGeom prst="rect">
            <a:avLst/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600950" y="3800475"/>
            <a:ext cx="3676650" cy="13049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500">
                <a:solidFill>
                  <a:srgbClr val="EAF1FB"/>
                </a:solidFill>
                <a:latin typeface="Microsoft YaHei"/>
                <a:ea typeface="Microsoft YaHei"/>
              </a:rPr>
              <a:t>· </a:t>
            </a:r>
            <a:r>
              <a:rPr lang="zh-CN" sz="1500">
                <a:solidFill>
                  <a:srgbClr val="EAF1FB"/>
                </a:solidFill>
                <a:latin typeface="Microsoft YaHei"/>
                <a:ea typeface="Microsoft YaHei"/>
              </a:rPr>
              <a:t>中文情报卡一键发群</a:t>
            </a:r>
            <a:endParaRPr/>
          </a:p>
          <a:p>
            <a:pPr>
              <a:lnSpc>
                <a:spcPct val="190000"/>
              </a:lnSpc>
            </a:pPr>
            <a:r>
              <a:rPr lang="en-US" sz="1500">
                <a:solidFill>
                  <a:srgbClr val="EAF1FB"/>
                </a:solidFill>
                <a:latin typeface="Microsoft YaHei"/>
                <a:ea typeface="Microsoft YaHei"/>
              </a:rPr>
              <a:t>· </a:t>
            </a:r>
            <a:r>
              <a:rPr lang="zh-CN" sz="1500">
                <a:solidFill>
                  <a:srgbClr val="EAF1FB"/>
                </a:solidFill>
                <a:latin typeface="Microsoft YaHei"/>
                <a:ea typeface="Microsoft YaHei"/>
              </a:rPr>
              <a:t>原网页自动翻译截图</a:t>
            </a:r>
            <a:endParaRPr/>
          </a:p>
          <a:p>
            <a:pPr>
              <a:lnSpc>
                <a:spcPct val="190000"/>
              </a:lnSpc>
            </a:pPr>
            <a:r>
              <a:rPr lang="en-US" sz="1500">
                <a:solidFill>
                  <a:srgbClr val="EAF1FB"/>
                </a:solidFill>
                <a:latin typeface="Microsoft YaHei"/>
                <a:ea typeface="Microsoft YaHei"/>
              </a:rPr>
              <a:t>· </a:t>
            </a:r>
            <a:r>
              <a:rPr lang="zh-CN" sz="1500">
                <a:solidFill>
                  <a:srgbClr val="EAF1FB"/>
                </a:solidFill>
                <a:latin typeface="Microsoft YaHei"/>
                <a:ea typeface="Microsoft YaHei"/>
              </a:rPr>
              <a:t>银河快报群内自动订阅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2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F5A623', borderRadius:4, marginRight:18 }} /&gt;&#10;    &lt;Text style={{ fontSize:36, fontWeight:'bold', color:'#EAF1FB' }}&gt;一个插件，搞定整片银河&lt;/Text&gt;&#10;  &lt;/Box&gt;&#10;  &lt;Box style={{ height:504, flexDirection:'column', justifyContent:'center' }}&gt;&#10;    &lt;Box style={{ flexDirection:'row', gap:24, justifyContent:'space-between' }}&gt;&#10;      &lt;Box style={{ flex:1, alignItems:'flex-start' }}&gt;&#10;        &lt;Text style={{ fontSize:96, fontWeight:'bold', color:'#F5A623', lineHeight:1 }}&gt;12&lt;Text style={{ fontSize:48, color:'#F5A623' }}&gt;+&lt;/Text&gt;&lt;/Text&gt;&#10;        &lt;Text style={{ fontSize:23, color:'#EAF1FB', marginTop:10, fontWeight:'bold' }}&gt;查询指令&lt;/Text&gt;&#10;        &lt;Text style={{ fontSize:16, color:'#8FA3BF', marginTop:4 }}&gt;数据 · 情报 · 订阅&lt;/Text&gt;&#10;      &lt;/Box&gt;&#10;      &lt;Box style={{ flex:1, alignItems:'flex-start' }}&gt;&#10;        &lt;Text style={{ fontSize:96, fontWeight:'bold', color:'#3D9BE9', lineHeight:1 }}&gt;4&lt;/Text&gt;&#10;        &lt;Text style={{ fontSize:23, color:'#EAF1FB', marginTop:10, fontWeight:'bold' }}&gt;大平台通用&lt;/Text&gt;&#10;        &lt;Text style={{ fontSize:16, color:'#8FA3BF', marginTop:4 }}&gt;QQ / 官方QQ / TG / DC&lt;/Text&gt;&#10;      &lt;/Box&gt;&#10;      &lt;Box style={{ flex:1, alignItems:'flex-start' }}&gt;&#10;        &lt;Text style={{ fontSize:96, fontWeight:'bold', color:'#F5A623', lineHeight:1 }}&gt;100&lt;Text style={{ fontSize:48, color:'#F5A623' }}&gt;%&lt;/Text&gt;&lt;/Text&gt;&#10;        &lt;Text style={{ fontSize:23, color:'#EAF1FB', marginTop:10, fontWeight:'bold' }}&gt;中文情报&lt;/Text&gt;&#10;        &lt;Text style={{ fontSize:16, color:'#8FA3BF', marginTop:4 }}&gt;术语本地化 · 军事广播语气&lt;/Text&gt;&#10;      &lt;/Box&gt;&#10;    &lt;/Box&gt;&#10;    &lt;Box style={{ marginTop:40, background:'#10213B', borderRadius:14, padding:'22px 28px', borderLeft:'4px solid #3D9BE9' }}&gt;&#10;      &lt;Text style={{ fontSize:23, color:'#EAF1FB', lineHeight:1.6 }}&gt;从战争总览到星球详情，从 Major Order 到民主空间站 —— 群友一句话，战况全到手。&lt;/Text&gt;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0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一个插件，搞定整片银河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1828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A623"/>
                </a:solidFill>
                <a:latin typeface="Microsoft YaHei"/>
                <a:ea typeface="Microsoft YaHei"/>
              </a:rPr>
              <a:t>12</a:t>
            </a:r>
            <a:r>
              <a:rPr lang="en-US" sz="7200" b="1">
                <a:solidFill>
                  <a:srgbClr val="F5A623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876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AF1FB"/>
                </a:solidFill>
                <a:latin typeface="Microsoft YaHei"/>
                <a:ea typeface="Microsoft YaHei"/>
              </a:rPr>
              <a:t>查询指令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1171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情报</a:t>
            </a: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订阅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3D9BE9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343400" y="3248025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AF1FB"/>
                </a:solidFill>
                <a:latin typeface="Microsoft YaHei"/>
                <a:ea typeface="Microsoft YaHei"/>
              </a:rPr>
              <a:t>大平台通用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343400" y="3552825"/>
            <a:ext cx="1685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QQ / </a:t>
            </a: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官方</a:t>
            </a: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QQ / TG / DC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77200" y="2047875"/>
            <a:ext cx="25431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A623"/>
                </a:solidFill>
                <a:latin typeface="Microsoft YaHei"/>
                <a:ea typeface="Microsoft YaHei"/>
              </a:rPr>
              <a:t>100</a:t>
            </a:r>
            <a:r>
              <a:rPr lang="en-US" sz="7200" b="1">
                <a:solidFill>
                  <a:srgbClr val="F5A623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77200" y="3248025"/>
            <a:ext cx="876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AF1FB"/>
                </a:solidFill>
                <a:latin typeface="Microsoft YaHei"/>
                <a:ea typeface="Microsoft YaHei"/>
              </a:rPr>
              <a:t>中文情报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77200" y="355282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术语本地化</a:t>
            </a:r>
            <a:r>
              <a:rPr lang="en-US" sz="1200">
                <a:solidFill>
                  <a:srgbClr val="8FA3BF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FA3BF"/>
                </a:solidFill>
                <a:latin typeface="Microsoft YaHei"/>
                <a:ea typeface="Microsoft YaHei"/>
              </a:rPr>
              <a:t>军事广播语气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47700" y="4124325"/>
            <a:ext cx="10972800" cy="847725"/>
          </a:xfrm>
          <a:prstGeom prst="roundRect">
            <a:avLst>
              <a:gd name="adj" fmla="val 15730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47700" y="4124325"/>
            <a:ext cx="10972800" cy="847725"/>
          </a:xfrm>
          <a:custGeom>
            <a:pathLst>
              <a:path w="1152" h="89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79"/>
                </a:lnTo>
                <a:cubicBezTo>
                  <a:pt x="4" y="83"/>
                  <a:pt x="7" y="87"/>
                  <a:pt x="11" y="89"/>
                </a:cubicBezTo>
                <a:cubicBezTo>
                  <a:pt x="5" y="87"/>
                  <a:pt x="0" y="82"/>
                  <a:pt x="0" y="75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3D9BE9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14400" y="4333875"/>
            <a:ext cx="10401300" cy="428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EAF1FB"/>
                </a:solidFill>
                <a:latin typeface="Microsoft YaHei"/>
                <a:ea typeface="Microsoft YaHei"/>
              </a:rPr>
              <a:t>从战争总览到星球详情，从</a:t>
            </a:r>
            <a:r>
              <a:rPr lang="en-US" sz="1725">
                <a:solidFill>
                  <a:srgbClr val="EAF1FB"/>
                </a:solidFill>
                <a:latin typeface="Microsoft YaHei"/>
                <a:ea typeface="Microsoft YaHei"/>
              </a:rPr>
              <a:t> Major Order </a:t>
            </a:r>
            <a:r>
              <a:rPr lang="zh-CN" sz="1725">
                <a:solidFill>
                  <a:srgbClr val="EAF1FB"/>
                </a:solidFill>
                <a:latin typeface="Microsoft YaHei"/>
                <a:ea typeface="Microsoft YaHei"/>
              </a:rPr>
              <a:t>到民主空间站</a:t>
            </a:r>
            <a:r>
              <a:rPr lang="en-US" sz="1725">
                <a:solidFill>
                  <a:srgbClr val="EAF1FB"/>
                </a:solidFill>
                <a:latin typeface="Microsoft YaHei"/>
                <a:ea typeface="Microsoft YaHei"/>
              </a:rPr>
              <a:t> —— </a:t>
            </a:r>
            <a:r>
              <a:rPr lang="zh-CN" sz="1725">
                <a:solidFill>
                  <a:srgbClr val="EAF1FB"/>
                </a:solidFill>
                <a:latin typeface="Microsoft YaHei"/>
                <a:ea typeface="Microsoft YaHei"/>
              </a:rPr>
              <a:t>群友一句话，战况全到手。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0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一句话，调出全部战况&lt;/Text&gt;&#10;  &lt;/Box&gt;&#10;  &lt;Box style={{ height:504, flexDirection:'row', gap:28 }}&gt;&#10;    &lt;Box style={{ width:'55%', background:'#0B1424', borderRadius:14, border:'1px solid #16335C', overflow:'hidden' }}&gt;&#10;      &lt;Box style={{ height:42, background:'#16335C', flexDirection:'row', alignItems:'center', gap:8, paddingLeft:16 }}&gt;&#10;        &lt;Box style={{ width:12, height:12, borderRadius:50, background:'#D64545' }} /&gt;&#10;        &lt;Box style={{ width:12, height:12, borderRadius:50, background:'#F5A623' }} /&gt;&#10;        &lt;Box style={{ width:12, height:12, borderRadius:50, background:'#5BA85B' }} /&gt;&#10;        &lt;Text style={{ fontSize:15, color:'#8FA3BF', marginLeft:10, fontFamily:'Consolas' }}&gt;helldivers@companion — 指令终端&lt;/Text&gt;&#10;      &lt;/Box&gt;&#10;      &lt;Box style={{ padding:'20px 24px', gap:12, flexDirection:'column' }}&gt;&#10;        {[&#10;          { c:'#5BA85B', t:'/dashboard', d:'银河战争总览' },&#10;          { c:'#3D9BE9', t:'/order', d:'当前 Major Order' },&#10;          { c:'#3D9BE9', t:'/dss', d:'民主空间站状态' },&#10;          { c:'#F5A623', t:'/map', d:'银河战争地图' },&#10;          { c:'#F5A623', t:'/planet', d:'星球详情（中/英/编号）' },&#10;          { c:'#5BA85B', t:'/银河快报', d:'订阅战报推送' },&#10;        ].map((it, i) =&gt; (&#10;          &lt;Box key={i} style={{ flexDirection:'row', alignItems:'baseline', gap:12 }}&gt;&#10;            &lt;Text style={{ fontSize:20, fontFamily:'Consolas', color:it.c, width:150 }}&gt;{it.t}&lt;/Text&gt;&#10;            &lt;Text style={{ fontSize:18, color:'#9FB3CC' }}&gt;{it.d}&lt;/Text&gt;&#10;          &lt;/Box&gt;&#10;        ))}&#10;      &lt;/Box&gt;&#10;    &lt;/Box&gt;&#10;    &lt;Box style={{ flex:1, flexDirection:'column', justifyContent:'center', gap:22 }}&gt;&#10;      &lt;Box&gt;&#10;        &lt;Text style={{ fontSize:24, fontWeight:'bold', color:'#EAF1FB' }}&gt;三大类指令&lt;/Text&gt;&#10;        &lt;Text style={{ fontSize:18, color:'#9FB3CC', lineHeight:1.6, marginTop:6 }}&gt;12+ 条指令覆盖战争全貌，输入即出图。&lt;/Text&gt;&#10;      &lt;/Box&gt;&#10;      &lt;Box style={{ flexDirection:'row', alignItems:'center', gap:14 }}&gt;&#10;        &lt;FAIcon name='chart-bar' style={{ fill:'#3D9BE9', width:30, height:30 }} /&gt;&#10;        &lt;Text style={{ fontSize:19, color:'#EAF1FB' }}&gt;数据查询：总览 / 统计 / 战线&lt;/Text&gt;&#10;      &lt;/Box&gt;&#10;      &lt;Box style={{ flexDirection:'row', alignItems:'center', gap:14 }}&gt;&#10;        &lt;FAIcon name='image' style={{ fill:'#F5A623', width:30, height:30 }} /&gt;&#10;        &lt;Text style={{ fontSize:19, color:'#EAF1FB' }}&gt;情报渲染：新闻 / DSS / 星球&lt;/Text&gt;&#10;      &lt;/Box&gt;&#10;      &lt;Box style={{ flexDirection:'row', alignItems:'center', gap:14 }}&gt;&#10;        &lt;FAIcon name='bell' style={{ fill:'#5BA85B', width:30, height:30 }} /&gt;&#10;        &lt;Text style={{ fontSize:19, color:'#EAF1FB' }}&gt;自动订阅：银河快报推送&lt;/Text&gt;&#10;      &lt;/Box&gt;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0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一句话，调出全部战况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1104900"/>
            <a:ext cx="6038850" cy="4800600"/>
          </a:xfrm>
          <a:prstGeom prst="roundRect">
            <a:avLst>
              <a:gd name="adj" fmla="val 2778"/>
            </a:avLst>
          </a:prstGeom>
          <a:solidFill>
            <a:srgbClr val="0B1424"/>
          </a:solidFill>
          <a:ln w="12700">
            <a:solidFill>
              <a:srgbClr val="16335C"/>
            </a:solidFill>
            <a:prstDash val="solid"/>
          </a:ln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09600" y="1104900"/>
            <a:ext cx="6038850" cy="400050"/>
          </a:xfrm>
          <a:custGeom>
            <a:pathLst>
              <a:path w="634" h="42">
                <a:moveTo>
                  <a:pt x="620" y="0"/>
                </a:moveTo>
                <a:cubicBezTo>
                  <a:pt x="628" y="0"/>
                  <a:pt x="634" y="6"/>
                  <a:pt x="634" y="14"/>
                </a:cubicBezTo>
                <a:lnTo>
                  <a:pt x="634" y="42"/>
                </a:lnTo>
                <a:lnTo>
                  <a:pt x="0" y="42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620" y="0"/>
                </a:lnTo>
                <a:close/>
              </a:path>
            </a:pathLst>
          </a:custGeom>
          <a:solidFill>
            <a:srgbClr val="16335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762000" y="1247775"/>
            <a:ext cx="114300" cy="114300"/>
          </a:xfrm>
          <a:prstGeom prst="roundRect">
            <a:avLst>
              <a:gd name="adj" fmla="val 416667"/>
            </a:avLst>
          </a:prstGeom>
          <a:solidFill>
            <a:srgbClr val="D64545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952500" y="1247775"/>
            <a:ext cx="114300" cy="114300"/>
          </a:xfrm>
          <a:prstGeom prst="roundRect">
            <a:avLst>
              <a:gd name="adj" fmla="val 416667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1143000" y="1247775"/>
            <a:ext cx="114300" cy="114300"/>
          </a:xfrm>
          <a:prstGeom prst="roundRect">
            <a:avLst>
              <a:gd name="adj" fmla="val 416667"/>
            </a:avLst>
          </a:prstGeom>
          <a:solidFill>
            <a:srgbClr val="5BA85B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428750" y="1219200"/>
            <a:ext cx="2609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FA3BF"/>
                </a:solidFill>
                <a:latin typeface="Consolas"/>
                <a:ea typeface="Consolas"/>
              </a:rPr>
              <a:t>helldivers@companion — </a:t>
            </a:r>
            <a:r>
              <a:rPr lang="zh-CN" sz="1125">
                <a:solidFill>
                  <a:srgbClr val="8FA3BF"/>
                </a:solidFill>
                <a:latin typeface="Consolas"/>
                <a:ea typeface="Consolas"/>
              </a:rPr>
              <a:t>指令终端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16954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5BA85B"/>
                </a:solidFill>
                <a:latin typeface="Consolas"/>
                <a:ea typeface="Consolas"/>
              </a:rPr>
              <a:t>/dashboard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2381250" y="1695450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银河战争总览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38200" y="20383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3D9BE9"/>
                </a:solidFill>
                <a:latin typeface="Consolas"/>
                <a:ea typeface="Consolas"/>
              </a:rPr>
              <a:t>/order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2381250" y="203835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当前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 Major Order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8200" y="23812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3D9BE9"/>
                </a:solidFill>
                <a:latin typeface="Consolas"/>
                <a:ea typeface="Consolas"/>
              </a:rPr>
              <a:t>/dss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2381250" y="2381250"/>
            <a:ext cx="1200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民主空间站状态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8200" y="27241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5A623"/>
                </a:solidFill>
                <a:latin typeface="Consolas"/>
                <a:ea typeface="Consolas"/>
              </a:rPr>
              <a:t>/map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381250" y="2724150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银河战争地图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38200" y="30670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5A623"/>
                </a:solidFill>
                <a:latin typeface="Consolas"/>
                <a:ea typeface="Consolas"/>
              </a:rPr>
              <a:t>/planet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2381250" y="3067050"/>
            <a:ext cx="1866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星球详情（中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英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编号）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38200" y="34099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5BA85B"/>
                </a:solidFill>
                <a:latin typeface="Consolas"/>
                <a:ea typeface="Consolas"/>
              </a:rPr>
              <a:t>/</a:t>
            </a:r>
            <a:r>
              <a:rPr lang="zh-CN" sz="1500">
                <a:solidFill>
                  <a:srgbClr val="5BA85B"/>
                </a:solidFill>
                <a:latin typeface="Consolas"/>
                <a:ea typeface="Consolas"/>
              </a:rPr>
              <a:t>银河快报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2381250" y="3409950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订阅战报推送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915150" y="2428875"/>
            <a:ext cx="4667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AF1FB"/>
                </a:solidFill>
                <a:latin typeface="Microsoft YaHei"/>
                <a:ea typeface="Microsoft YaHei"/>
              </a:rPr>
              <a:t>三大类指令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915150" y="2762250"/>
            <a:ext cx="4667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12+ 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条指令覆盖战争全貌，输入即出图。</a:t>
            </a:r>
            <a:endParaRPr/>
          </a:p>
        </p:txBody>
      </p:sp>
      <p:pic>
        <p:nvPicPr>
          <p:cNvPr id="2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15150" y="3305175"/>
            <a:ext cx="285750" cy="285750"/>
          </a:xfrm>
          <a:prstGeom prst="rect">
            <a:avLst/>
          </a:prstGeom>
          <a:ln/>
        </p:spPr>
      </p:pic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334250" y="3343275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数据查询：总览</a:t>
            </a:r>
            <a:r>
              <a:rPr lang="en-US" sz="1425">
                <a:solidFill>
                  <a:srgbClr val="EAF1FB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统计</a:t>
            </a:r>
            <a:r>
              <a:rPr lang="en-US" sz="1425">
                <a:solidFill>
                  <a:srgbClr val="EAF1FB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战线</a:t>
            </a:r>
            <a:endParaRPr/>
          </a:p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15150" y="3800475"/>
            <a:ext cx="285750" cy="28575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334250" y="3838575"/>
            <a:ext cx="2352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情报渲染：新闻</a:t>
            </a:r>
            <a:r>
              <a:rPr lang="en-US" sz="1425">
                <a:solidFill>
                  <a:srgbClr val="EAF1FB"/>
                </a:solidFill>
                <a:latin typeface="Microsoft YaHei"/>
                <a:ea typeface="Microsoft YaHei"/>
              </a:rPr>
              <a:t> / DSS / </a:t>
            </a: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星球</a:t>
            </a:r>
            <a:endParaRPr/>
          </a:p>
        </p:txBody>
      </p:sp>
      <p:pic>
        <p:nvPicPr>
          <p:cNvPr id="2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915150" y="4295775"/>
            <a:ext cx="285750" cy="285750"/>
          </a:xfrm>
          <a:prstGeom prst="rect">
            <a:avLst/>
          </a:prstGeom>
          <a:ln/>
        </p:spPr>
      </p:pic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334250" y="4333875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自动订阅：银河快报推送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2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自带中文的情报卡&lt;/Text&gt;&#10;  &lt;/Box&gt;&#10;  &lt;Box style={{ height:504, flexDirection:'column', gap:18 }}&gt;&#10;    &lt;Box style={{ height:228, flexDirection:'row', alignItems:'center', gap:18 }}&gt;&#10;      &lt;Box style={{ width:'38%', background:'#10213B', border:'1px solid #1E3A5F', borderRadius:12, padding:20 }}&gt;&#10;        &lt;Text style={{ fontSize:14, color:'#8FA3BF', fontFamily:'Consolas', marginBottom:8 }}&gt;BEFORE · EN&lt;/Text&gt;&#10;        &lt;Text style={{ fontSize:19, color:'#9FB3CC', lineHeight:1.6 }}&gt;MAJOR ORDER{'\n'}Liberate Moorwoe{'\n'}Defense Campaign&lt;/Text&gt;&#10;      &lt;/Box&gt;&#10;      &lt;FAIcon name='arrow-right' style={{ fill:'#3D9BE9', width:40, height:40 }} /&gt;&#10;      &lt;Box style={{ flex:1, background:'linear-gradient(135deg,#16335C 0%,#0B1424 100%)', border:'1px solid #3D9BE9', borderRadius:12, padding:20 }}&gt;&#10;        &lt;Text style={{ fontSize:14, color:'#3D9BE9', fontFamily:'Consolas', marginBottom:8 }}&gt;AFTER · 中文&lt;/Text&gt;&#10;        &lt;Text style={{ fontSize:22, fontWeight:'bold', color:'#EAF1FB', lineHeight:1.6 }}&gt;重要指令{'\n'}解放摩尔维{'\n'}防御战役 · 进度 62%&lt;/Text&gt;&#10;      &lt;/Box&gt;&#10;    &lt;/Box&gt;&#10;    &lt;Box style={{ flex:1, flexDirection:'row', gap:18 }}&gt;&#10;      {[&#10;        { ic:'palette', c:'#3D9BE9', t:'Pillow 本地渲染', d:'战争数据由 Pillow 绘制为中文卡片，离线可靠' },&#10;        { ic:'language', c:'#F5A623', t:'Companion 翻译截图', d:'Playwright 抓原网页并回写中文，原汁原味' },&#10;        { ic:'book', c:'#5BA85B', t:'HD2 术语本地化', d:'内置军事广播语气术语库，读起来像官方' },&#10;      ].map((it, i) =&gt; (&#10;        &lt;Box key={i} style={{ flex:1, flexDirection:'column', justifyContent:'space-between', background:'#10213B', borderRadius:14, padding:'22px 22px 18px' }}&gt;&#10;          &lt;Box style={{ width:52, height:52, borderRadius:12, background:'rgba(255,255,255,0.05)', justifyContent:'center', alignItems:'center' }}&gt;&#10;            &lt;FAIcon name={it.ic} style={{ fill:it.c, width:28, height:28 }} /&gt;&#10;          &lt;/Box&gt;&#10;          &lt;Box style={{ marginTop:14 }}&gt;&#10;            &lt;Text style={{ fontSize:21, fontWeight:'bold', color:'#EAF1FB' }}&gt;{it.t}&lt;/Text&gt;&#10;            &lt;Text style={{ fontSize:16, color:'#9FB3CC', lineHeight:1.5, marginTop:6 }}&gt;{it.d}&lt;/Text&gt;&#10;          &lt;/Box&gt;&#10;        &lt;/Box&gt;&#10;      ))}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0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自带中文的情报卡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1362075"/>
            <a:ext cx="4171950" cy="1666875"/>
          </a:xfrm>
          <a:prstGeom prst="roundRect">
            <a:avLst>
              <a:gd name="adj" fmla="val 6857"/>
            </a:avLst>
          </a:prstGeom>
          <a:solidFill>
            <a:srgbClr val="10213B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0100" y="1552575"/>
            <a:ext cx="3790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Consolas"/>
                <a:ea typeface="Consolas"/>
              </a:rPr>
              <a:t>BEFORE · EN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00100" y="1790700"/>
            <a:ext cx="3790950" cy="1047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>MAJOR ORDER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>Liberate Moorwoe</a:t>
            </a:r>
            <a:endParaRPr/>
          </a:p>
          <a:p>
            <a:pPr>
              <a:lnSpc>
                <a:spcPct val="160000"/>
              </a:lnSpc>
            </a:pPr>
            <a:r>
              <a:rPr lang="en-US" sz="1425">
                <a:solidFill>
                  <a:srgbClr val="9FB3CC"/>
                </a:solidFill>
                <a:latin typeface="Microsoft YaHei"/>
                <a:ea typeface="Microsoft YaHei"/>
              </a:rPr>
              <a:t>Defense Campaign</a:t>
            </a:r>
            <a:endParaRPr/>
          </a:p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53000" y="2000250"/>
            <a:ext cx="381000" cy="381000"/>
          </a:xfrm>
          <a:prstGeom prst="rect">
            <a:avLst/>
          </a:prstGeom>
          <a:ln/>
        </p:spPr>
      </p:pic>
      <p:sp>
        <p:nvSpPr>
          <p:cNvPr id="220" name=""/>
          <p:cNvSpPr/>
          <p:nvPr/>
        </p:nvSpPr>
        <p:spPr>
          <a:xfrm rot="0" flipH="0" flipV="0">
            <a:off x="5505450" y="1276350"/>
            <a:ext cx="6076950" cy="1828800"/>
          </a:xfrm>
          <a:prstGeom prst="roundRect">
            <a:avLst>
              <a:gd name="adj" fmla="val 6250"/>
            </a:avLst>
          </a:prstGeom>
          <a:gradFill>
            <a:gsLst>
              <a:gs pos="0">
                <a:srgbClr val="16335C"/>
              </a:gs>
              <a:gs pos="100000">
                <a:srgbClr val="0B1424"/>
              </a:gs>
            </a:gsLst>
            <a:lin ang="2700000" scaled="1"/>
          </a:gradFill>
          <a:ln w="12700">
            <a:solidFill>
              <a:srgbClr val="3D9BE9"/>
            </a:solidFill>
            <a:prstDash val="solid"/>
          </a:ln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695950" y="1466850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D9BE9"/>
                </a:solidFill>
                <a:latin typeface="Consolas"/>
                <a:ea typeface="Consolas"/>
              </a:rPr>
              <a:t>AFTER · </a:t>
            </a:r>
            <a:r>
              <a:rPr lang="zh-CN" sz="1050">
                <a:solidFill>
                  <a:srgbClr val="3D9BE9"/>
                </a:solidFill>
                <a:latin typeface="Consolas"/>
                <a:ea typeface="Consolas"/>
              </a:rPr>
              <a:t>中文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695950" y="1704975"/>
            <a:ext cx="5695950" cy="1209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重要指令</a:t>
            </a:r>
            <a:endParaRPr/>
          </a:p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解放摩尔维</a:t>
            </a:r>
            <a:endParaRPr/>
          </a:p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防御战役</a:t>
            </a:r>
            <a:r>
              <a:rPr lang="en-US" sz="1650" b="1">
                <a:solidFill>
                  <a:srgbClr val="EAF1FB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进度</a:t>
            </a:r>
            <a:r>
              <a:rPr lang="en-US" sz="1650" b="1">
                <a:solidFill>
                  <a:srgbClr val="EAF1FB"/>
                </a:solidFill>
                <a:latin typeface="Microsoft YaHei"/>
                <a:ea typeface="Microsoft YaHei"/>
              </a:rPr>
              <a:t> 62%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3448050"/>
            <a:ext cx="3543300" cy="2457450"/>
          </a:xfrm>
          <a:prstGeom prst="roundRect">
            <a:avLst>
              <a:gd name="adj" fmla="val 542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819150" y="36576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33450" y="3771900"/>
            <a:ext cx="266700" cy="2667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19150" y="5153025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AF1FB"/>
                </a:solidFill>
                <a:latin typeface="Microsoft YaHei"/>
                <a:ea typeface="Microsoft YaHei"/>
              </a:rPr>
              <a:t>Pillow </a:t>
            </a: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本地渲染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19150" y="5457825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战争数据由</a:t>
            </a: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 Pillow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绘制为中文卡片，离线可靠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324350" y="3448050"/>
            <a:ext cx="3543300" cy="2457450"/>
          </a:xfrm>
          <a:prstGeom prst="roundRect">
            <a:avLst>
              <a:gd name="adj" fmla="val 542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4533900" y="36576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648200" y="3771900"/>
            <a:ext cx="266700" cy="266700"/>
          </a:xfrm>
          <a:prstGeom prst="rect">
            <a:avLst/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533900" y="5153025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AF1FB"/>
                </a:solidFill>
                <a:latin typeface="Microsoft YaHei"/>
                <a:ea typeface="Microsoft YaHei"/>
              </a:rPr>
              <a:t>Companion </a:t>
            </a: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翻译截图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533900" y="5457825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9FB3CC"/>
                </a:solidFill>
                <a:latin typeface="Microsoft YaHei"/>
                <a:ea typeface="Microsoft YaHei"/>
              </a:rPr>
              <a:t>Playwright </a:t>
            </a: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抓原网页并回写中文，原汁原味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8039100" y="3448050"/>
            <a:ext cx="3543300" cy="2457450"/>
          </a:xfrm>
          <a:prstGeom prst="roundRect">
            <a:avLst>
              <a:gd name="adj" fmla="val 542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248650" y="36576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362950" y="3771900"/>
            <a:ext cx="266700" cy="266700"/>
          </a:xfrm>
          <a:prstGeom prst="rect">
            <a:avLst/>
          </a:prstGeom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248650" y="5153025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AF1FB"/>
                </a:solidFill>
                <a:latin typeface="Microsoft YaHei"/>
                <a:ea typeface="Microsoft YaHei"/>
              </a:rPr>
              <a:t>HD2 </a:t>
            </a: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术语本地化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248650" y="5457825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FB3CC"/>
                </a:solidFill>
                <a:latin typeface="Microsoft YaHei"/>
                <a:ea typeface="Microsoft YaHei"/>
              </a:rPr>
              <a:t>内置军事广播语气术语库，读起来像官方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0" name="" descr="&lt;Slide style={{ width:'1280px', height:'720px', background:'#0B1424', position:'relative', overflow:'hidden' }}&gt;&#10;  &lt;svg width='1280' height='720' viewBox='0 0 1280 720' style={{ position:'absolute', top:0, left:0 }}&gt;&#10;    &lt;defs&gt;&#10;      &lt;radialGradient id='gal' cx='55%' cy='45%' r='60%'&gt;&#10;        &lt;stop offset='0%' stopColor='#16335C' stopOpacity='0.9' /&gt;&#10;        &lt;stop offset='100%' stopColor='#0B1424' stopOpacity='0' /&gt;&#10;      &lt;/radialGradient&gt;&#10;    &lt;/defs&gt;&#10;    &lt;rect width='1280' height='720' fill='#0B1424' /&gt;&#10;    &lt;ellipse cx='700' cy='360' rx='820' ry='460' fill='url(#gal)' /&gt;&#10;    &lt;circle cx='420' cy='400' r='170' fill='#5BA85B' opacity='0.10' /&gt;&#10;    &lt;circle cx='860' cy='280' r='150' fill='#D64545' opacity='0.10' /&gt;&#10;    &lt;circle cx='640' cy='540' r='130' fill='#9B6BD6' opacity='0.10' /&gt;&#10;    &lt;line x1='420' y1='400' x2='860' y2='280' stroke='#5BA85B' strokeOpacity='0.3' strokeWidth='1.5' /&gt;&#10;    &lt;line x1='860' y1='280' x2='640' y2='540' stroke='#D64545' strokeOpacity='0.3' strokeWidth='1.5' /&gt;&#10;    &lt;line x1='640' y1='540' x2='420' y2='400' stroke='#9B6BD6' strokeOpacity='0.3' strokeWidth='1.5' /&gt;&#10;    &lt;circle cx='420' cy='400' r='10' fill='#5BA85B' /&gt;&#10;    &lt;circle cx='360' cy='320' r='6' fill='#5BA85B' /&gt;&#10;    &lt;circle cx='480' cy='470' r='6' fill='#5BA85B' /&gt;&#10;    &lt;circle cx='860' cy='280' r='10' fill='#D64545' /&gt;&#10;    &lt;circle cx='930' cy='220' r='6' fill='#D64545' /&gt;&#10;    &lt;circle cx='800' cy='360' r='6' fill='#D64545' /&gt;&#10;    &lt;circle cx='640' cy='540' r='10' fill='#9B6BD6' /&gt;&#10;    &lt;circle cx='700' cy='600' r='6' fill='#9B6BD6' /&gt;&#10;    &lt;circle cx='560' cy='500' r='5' fill='#EAF1FB' /&gt;&#10;    &lt;circle cx='1000' cy='430' r='5' fill='#EAF1FB' /&gt;&#10;    &lt;circle cx='300' cy='220' r='4' fill='#EAF1FB' /&gt;&#10;    &lt;circle cx='1080' cy='320' r='4' fill='#EAF1FB' /&gt;&#10;    &lt;circle cx='520' cy='180' r='4' fill='#EAF1FB' /&gt;&#10;    &lt;circle cx='760' cy='160' r='3' fill='#EAF1FB' /&gt;&#10;  &lt;/svg&gt;&#10;  &lt;Box style={{ position:'absolute', top:0, left:0, width:'100%', height:'100%', background:'rgba(11,20,36,0.5)' }} /&gt;&#10;  &lt;Box style={{ position:'relative', zIndex:2, height:140, padding:'44px 64px 0' }}&gt;&#10;    &lt;Text style={{ fontSize:17, letterSpacing:4, color:'#F5A623', fontWeight:'bold', marginBottom:10 }}&gt;THE GALACTIC WAR MAP&lt;/Text&gt;&#10;    &lt;Text style={{ fontSize:40, fontWeight:'bold', color:'#EAF1FB' }}&gt;银河战争地图与民主空间站&lt;/Text&gt;&#10;  &lt;/Box&gt;&#10;  &lt;Box style={{ position:'absolute', right:64, top:300, width:470, zIndex:2, background:'rgba(16,33,59,0.88)', border:'1px solid #16335C', borderRadius:16, padding:'26px 28px' }}&gt;&#10;    &lt;Box style={{ flexDirection:'row', alignItems:'center', gap:14, marginBottom:16 }}&gt;&#10;      &lt;FAIcon name='map' style={{ fill:'#3D9BE9', width:30, height:30 }} /&gt;&#10;      &lt;Text style={{ fontSize:21, fontWeight:'bold', color:'#EAF1FB' }}&gt;/map 银河战争地图&lt;/Text&gt;&#10;    &lt;/Box&gt;&#10;    &lt;Text style={{ fontSize:18, color:'#9FB3CC', lineHeight:1.6, marginBottom:18 }}&gt;阵营控制区、战役与活跃星球，全部标注在图上。&lt;/Text&gt;&#10;    &lt;Box style={{ flexDirection:'row', alignItems:'center', gap:14, marginBottom:16 }}&gt;&#10;      &lt;FAIcon name='satellite-dish' style={{ fill:'#F5A623', width:30, height:30 }} /&gt;&#10;      &lt;Text style={{ fontSize:21, fontWeight:'bold', color:'#EAF1FB' }}&gt;/dss 民主空间站&lt;/Text&gt;&#10;    &lt;/Box&gt;&#10;    &lt;Text style={{ fontSize:18, color:'#9FB3CC', lineHeight:1.6, marginBottom:18 }}&gt;完整主面板中文情报，战术行动一目了然。&lt;/Text&gt;&#10;    &lt;Box style={{ flexDirection:'row', alignItems:'center', gap:14 }}&gt;&#10;      &lt;FAIcon name='globe' style={{ fill:'#5BA85B', width:30, height:30 }} /&gt;&#10;      &lt;Text style={{ fontSize:21, fontWeight:'bold', color:'#EAF1FB' }}&gt;/planet 星球详情&lt;/Text&gt;&#10;    &lt;/Box&gt;&#10;    &lt;Text style={{ fontSize:18, color:'#9FB3CC', lineHeight:1.6, marginTop:8 }}&gt;支持中文名 / 英文名 / 编号 / 链接任意解析。&lt;/Text&gt;&#10;  &lt;/Box&gt;&#10;  &lt;Box style={{ position:'absolute', bottom:18, right:64, zIndex:2 }}&gt;&#10;    &lt;Text style={{ fontSize:14, color:'#8FA3BF' }}&gt;0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>
              <a:alpha val="50000"/>
            </a:srgbClr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4191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300">
                <a:solidFill>
                  <a:srgbClr val="F5A623"/>
                </a:solidFill>
                <a:latin typeface="Microsoft YaHei"/>
                <a:ea typeface="Microsoft YaHei"/>
              </a:rPr>
              <a:t>THE GALACTIC WAR MAP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71437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EAF1FB"/>
                </a:solidFill>
                <a:latin typeface="Microsoft YaHei"/>
                <a:ea typeface="Microsoft YaHei"/>
              </a:rPr>
              <a:t>银河战争地图与民主空间站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7105650" y="2857500"/>
            <a:ext cx="4476750" cy="3076575"/>
          </a:xfrm>
          <a:prstGeom prst="roundRect">
            <a:avLst>
              <a:gd name="adj" fmla="val 4954"/>
            </a:avLst>
          </a:prstGeom>
          <a:solidFill>
            <a:srgbClr val="10213B">
              <a:alpha val="88000"/>
            </a:srgbClr>
          </a:solidFill>
          <a:ln w="12700">
            <a:solidFill>
              <a:srgbClr val="16335C"/>
            </a:solidFill>
            <a:prstDash val="solid"/>
          </a:ln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72350" y="3105150"/>
            <a:ext cx="285750" cy="28575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791450" y="3124200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AF1FB"/>
                </a:solidFill>
                <a:latin typeface="Microsoft YaHei"/>
                <a:ea typeface="Microsoft YaHei"/>
              </a:rPr>
              <a:t>/map </a:t>
            </a: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银河战争地图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372350" y="3543300"/>
            <a:ext cx="3943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阵营控制区、战役与活跃星球，全部标注在图上。</a:t>
            </a:r>
            <a:endParaRPr/>
          </a:p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72350" y="4048125"/>
            <a:ext cx="285750" cy="285750"/>
          </a:xfrm>
          <a:prstGeom prst="rect">
            <a:avLst/>
          </a:prstGeom>
          <a:ln/>
        </p:spPr>
      </p:pic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791450" y="406717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AF1FB"/>
                </a:solidFill>
                <a:latin typeface="Microsoft YaHei"/>
                <a:ea typeface="Microsoft YaHei"/>
              </a:rPr>
              <a:t>/dss </a:t>
            </a: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民主空间站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372350" y="4486275"/>
            <a:ext cx="3943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完整主面板中文情报，战术行动一目了然。</a:t>
            </a:r>
            <a:endParaRPr/>
          </a:p>
        </p:txBody>
      </p:sp>
      <p:pic>
        <p:nvPicPr>
          <p:cNvPr id="2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72350" y="4991100"/>
            <a:ext cx="285750" cy="285750"/>
          </a:xfrm>
          <a:prstGeom prst="rect">
            <a:avLst/>
          </a:prstGeom>
          <a:ln/>
        </p:spPr>
      </p:pic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791450" y="501015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AF1FB"/>
                </a:solidFill>
                <a:latin typeface="Microsoft YaHei"/>
                <a:ea typeface="Microsoft YaHei"/>
              </a:rPr>
              <a:t>/planet </a:t>
            </a: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星球详情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372350" y="5353050"/>
            <a:ext cx="39433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支持中文名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英文名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编号</a:t>
            </a:r>
            <a:r>
              <a:rPr lang="en-US" sz="1350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350">
                <a:solidFill>
                  <a:srgbClr val="9FB3CC"/>
                </a:solidFill>
                <a:latin typeface="Microsoft YaHei"/>
                <a:ea typeface="Microsoft YaHei"/>
              </a:rPr>
              <a:t>链接任意解析。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25200" y="65246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57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银河快报，自动送到群里&lt;/Text&gt;&#10;  &lt;/Box&gt;&#10;  &lt;Box style={{ height:504, flexDirection:'row', gap:28 }}&gt;&#10;    &lt;Box style={{ width:'60%', flexDirection:'column', justifyContent:'space-between' }}&gt;&#10;      {[&#10;        { n:'1', ic:'comment-dots', c:'#3D9BE9', t:'订阅当前群', d:'管理员一条 /银河快报订阅，建立监听基线' },&#10;        { n:'2', ic:'satellite-dish', c:'#F5A623', t:'后台轮询监听', d:'定时拉取 B站动态，匹配「银河快报」关键词' },&#10;        { n:'3', ic:'paper-plane', c:'#5BA85B', t:'主动推送', d:'新一期正文 + 图片 + 出处，自动发到群' },&#10;      ].map((it, i) =&gt; (&#10;        &lt;Box key={i} style={{ flexDirection:'row', alignItems:'center', gap:20, background:'#10213B', borderRadius:14, padding:'18px 24px' }}&gt;&#10;          &lt;Box style={{ width:54, height:54, borderRadius:50, background:'rgba(61,155,233,0.12)', justifyContent:'center', alignItems:'center' }}&gt;&#10;            &lt;Text style={{ fontSize:24, fontWeight:'bold', color:it.c }}&gt;{it.n}&lt;/Text&gt;&#10;          &lt;/Box&gt;&#10;          &lt;Box style={{ flex:1 }}&gt;&#10;            &lt;Text style={{ fontSize:22, fontWeight:'bold', color:'#EAF1FB' }}&gt;{it.t}&lt;/Text&gt;&#10;            &lt;Text style={{ fontSize:17, color:'#9FB3CC', lineHeight:1.5, marginTop:4 }}&gt;{it.d}&lt;/Text&gt;&#10;          &lt;/Box&gt;&#10;        &lt;/Box&gt;&#10;      ))}&#10;    &lt;/Box&gt;&#10;    &lt;Box style={{ width:'40%', background:'linear-gradient(160deg,#16335C 0%,#0B1424 100%)', border:'2px solid #F5A623', borderRadius:16, padding:32, justifyContent:'center' }}&gt;&#10;      &lt;FAIcon name='bell' style={{ fill:'#F5A623', width:46, height:46, marginBottom:16 }} /&gt;&#10;      &lt;Text style={{ fontSize:27, fontWeight:'bold', color:'#F5A623', lineHeight:1.4 }}&gt;B站银河快报{'\n'}自动送达&lt;/Text&gt;&#10;      &lt;Box style={{ width:80, height:3, background:'#3D9BE9', margin:'18px 0' }} /&gt;&#10;      &lt;Text style={{ fontSize:19, color:'#EAF1FB', lineHeight:1.9 }}&gt;&#10;        · 不漏任何一期战报{'\n'}· 动态 ID 去重，不刷屏{'\n'}· 保留原作者出处&#10;      &lt;/Text&gt;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0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3771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银河快报，自动送到群里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1104900"/>
            <a:ext cx="6419850" cy="933450"/>
          </a:xfrm>
          <a:prstGeom prst="roundRect">
            <a:avLst>
              <a:gd name="adj" fmla="val 1428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838200" y="1314450"/>
            <a:ext cx="514350" cy="514350"/>
          </a:xfrm>
          <a:prstGeom prst="roundRect">
            <a:avLst>
              <a:gd name="adj" fmla="val 92593"/>
            </a:avLst>
          </a:prstGeom>
          <a:solidFill>
            <a:srgbClr val="3D9BE9">
              <a:alpha val="12000"/>
            </a:srgbClr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028700" y="14382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D9BE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543050" y="1276350"/>
            <a:ext cx="525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订阅当前群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543050" y="1571625"/>
            <a:ext cx="5257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管理员一条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/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银河快报订阅，建立监听基线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09600" y="3038475"/>
            <a:ext cx="6419850" cy="933450"/>
          </a:xfrm>
          <a:prstGeom prst="roundRect">
            <a:avLst>
              <a:gd name="adj" fmla="val 1428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838200" y="3248025"/>
            <a:ext cx="514350" cy="514350"/>
          </a:xfrm>
          <a:prstGeom prst="roundRect">
            <a:avLst>
              <a:gd name="adj" fmla="val 92593"/>
            </a:avLst>
          </a:prstGeom>
          <a:solidFill>
            <a:srgbClr val="3D9BE9">
              <a:alpha val="12000"/>
            </a:srgbClr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028700" y="33718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5A623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543050" y="3209925"/>
            <a:ext cx="525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后台轮询监听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543050" y="3505200"/>
            <a:ext cx="5257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定时拉取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B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站动态，匹配「银河快报」关键词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4972050"/>
            <a:ext cx="6419850" cy="933450"/>
          </a:xfrm>
          <a:prstGeom prst="roundRect">
            <a:avLst>
              <a:gd name="adj" fmla="val 1428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838200" y="5181600"/>
            <a:ext cx="514350" cy="514350"/>
          </a:xfrm>
          <a:prstGeom prst="roundRect">
            <a:avLst>
              <a:gd name="adj" fmla="val 92593"/>
            </a:avLst>
          </a:prstGeom>
          <a:solidFill>
            <a:srgbClr val="3D9BE9">
              <a:alpha val="12000"/>
            </a:srgbClr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28700" y="53054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BA85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543050" y="5143500"/>
            <a:ext cx="5257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AF1FB"/>
                </a:solidFill>
                <a:latin typeface="Microsoft YaHei"/>
                <a:ea typeface="Microsoft YaHei"/>
              </a:rPr>
              <a:t>主动推送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543050" y="5438775"/>
            <a:ext cx="52578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新一期正文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图片</a:t>
            </a:r>
            <a:r>
              <a:rPr lang="en-US" sz="1275">
                <a:solidFill>
                  <a:srgbClr val="9FB3CC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9FB3CC"/>
                </a:solidFill>
                <a:latin typeface="Microsoft YaHei"/>
                <a:ea typeface="Microsoft YaHei"/>
              </a:rPr>
              <a:t>出处，自动发到群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7296150" y="1104900"/>
            <a:ext cx="4286250" cy="4800600"/>
          </a:xfrm>
          <a:prstGeom prst="roundRect">
            <a:avLst>
              <a:gd name="adj" fmla="val 3556"/>
            </a:avLst>
          </a:prstGeom>
          <a:gradFill>
            <a:gsLst>
              <a:gs pos="0">
                <a:srgbClr val="16335C"/>
              </a:gs>
              <a:gs pos="100000">
                <a:srgbClr val="0B1424"/>
              </a:gs>
            </a:gsLst>
            <a:lin ang="4200000" scaled="1"/>
          </a:gradFill>
          <a:ln w="25400">
            <a:solidFill>
              <a:srgbClr val="F5A623"/>
            </a:solidFill>
            <a:prstDash val="solid"/>
          </a:ln>
        </p:spPr>
        <p:txBody>
          <a:bodyPr/>
          <a:p/>
        </p:txBody>
      </p:sp>
      <p:pic>
        <p:nvPicPr>
          <p:cNvPr id="2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1971675"/>
            <a:ext cx="438150" cy="438150"/>
          </a:xfrm>
          <a:prstGeom prst="rect">
            <a:avLst/>
          </a:prstGeom>
          <a:ln/>
        </p:spPr>
      </p:pic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600950" y="2562225"/>
            <a:ext cx="3676650" cy="866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025" b="1">
                <a:solidFill>
                  <a:srgbClr val="F5A623"/>
                </a:solidFill>
                <a:latin typeface="Microsoft YaHei"/>
                <a:ea typeface="Microsoft YaHei"/>
              </a:rPr>
              <a:t>B</a:t>
            </a:r>
            <a:r>
              <a:rPr lang="zh-CN" sz="2025" b="1">
                <a:solidFill>
                  <a:srgbClr val="F5A623"/>
                </a:solidFill>
                <a:latin typeface="Microsoft YaHei"/>
                <a:ea typeface="Microsoft YaHei"/>
              </a:rPr>
              <a:t>站银河快报</a:t>
            </a:r>
            <a:endParaRPr/>
          </a:p>
          <a:p>
            <a:pPr>
              <a:lnSpc>
                <a:spcPct val="140000"/>
              </a:lnSpc>
            </a:pPr>
            <a:r>
              <a:rPr lang="zh-CN" sz="2025" b="1">
                <a:solidFill>
                  <a:srgbClr val="F5A623"/>
                </a:solidFill>
                <a:latin typeface="Microsoft YaHei"/>
                <a:ea typeface="Microsoft YaHei"/>
              </a:rPr>
              <a:t>自动送达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600950" y="3600450"/>
            <a:ext cx="762000" cy="28575"/>
          </a:xfrm>
          <a:prstGeom prst="rect">
            <a:avLst/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600950" y="3800475"/>
            <a:ext cx="3676650" cy="12382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425">
                <a:solidFill>
                  <a:srgbClr val="EAF1FB"/>
                </a:solidFill>
                <a:latin typeface="Microsoft YaHei"/>
                <a:ea typeface="Microsoft YaHei"/>
              </a:rPr>
              <a:t>· </a:t>
            </a: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不漏任何一期战报</a:t>
            </a:r>
            <a:endParaRPr/>
          </a:p>
          <a:p>
            <a:pPr>
              <a:lnSpc>
                <a:spcPct val="190000"/>
              </a:lnSpc>
            </a:pPr>
            <a:r>
              <a:rPr lang="en-US" sz="1425">
                <a:solidFill>
                  <a:srgbClr val="EAF1FB"/>
                </a:solidFill>
                <a:latin typeface="Microsoft YaHei"/>
                <a:ea typeface="Microsoft YaHei"/>
              </a:rPr>
              <a:t>· </a:t>
            </a: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动态</a:t>
            </a:r>
            <a:r>
              <a:rPr lang="en-US" sz="1425">
                <a:solidFill>
                  <a:srgbClr val="EAF1FB"/>
                </a:solidFill>
                <a:latin typeface="Microsoft YaHei"/>
                <a:ea typeface="Microsoft YaHei"/>
              </a:rPr>
              <a:t> ID </a:t>
            </a: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去重，不刷屏</a:t>
            </a:r>
            <a:endParaRPr/>
          </a:p>
          <a:p>
            <a:pPr>
              <a:lnSpc>
                <a:spcPct val="190000"/>
              </a:lnSpc>
            </a:pPr>
            <a:r>
              <a:rPr lang="en-US" sz="1425">
                <a:solidFill>
                  <a:srgbClr val="EAF1FB"/>
                </a:solidFill>
                <a:latin typeface="Microsoft YaHei"/>
                <a:ea typeface="Microsoft YaHei"/>
              </a:rPr>
              <a:t>· </a:t>
            </a:r>
            <a:r>
              <a:rPr lang="zh-CN" sz="1425">
                <a:solidFill>
                  <a:srgbClr val="EAF1FB"/>
                </a:solidFill>
                <a:latin typeface="Microsoft YaHei"/>
                <a:ea typeface="Microsoft YaHei"/>
              </a:rPr>
              <a:t>保留原作者出处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3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看不见的技术底座&lt;/Text&gt;&#10;  &lt;/Box&gt;&#10;  &lt;Box style={{ height:504, flexDirection:'row', gap:32 }}&gt;&#10;    &lt;Box style={{ width:'34%', background:'linear-gradient(160deg,#16335C 0%,#0B1424 100%)', borderRadius:16, padding:32, justifyContent:'center' }}&gt;&#10;      &lt;FAIcon name='shield-alt' style={{ fill:'#F5A623', width:56, height:56, marginBottom:18 }} /&gt;&#10;      &lt;Text style={{ fontSize:24, fontWeight:'bold', color:'#EAF1FB', lineHeight:1.4 }}&gt;稳，才敢{'\n'}交给群友&lt;/Text&gt;&#10;      &lt;Text style={{ fontSize:15, color:'#8FA3BF', lineHeight:1.6, marginTop:12 }}&gt;异步、限流、安全校验，一个都不少。&lt;/Text&gt;&#10;    &lt;/Box&gt;&#10;    &lt;Box style={{ flex:1, flexDirection:'column', justifyContent:'space-between', padding:'6px 0' }}&gt;&#10;      {[&#10;        { ic:'bolt', c:'#3D9BE9', t:'异步缓存与后台刷新', d:'内存 + 磁盘双层缓存，定时刷新，群内秒回' },&#10;        { ic:'tachometer-alt', c:'#F5A623', t:'全局限流与重试退避', d:'最小请求间隔、429 冷却、失败自动退避' },&#10;        { ic:'lock', c:'#5BA85B', t:'SSRF 防护', d:'Companion 路由白名单，杜绝任意网页截图' },&#10;        { ic:'language', c:'#3D9BE9', t:'AI 翻译', d:'内置 / OpenAI 兼容，遵循 HD2 术语本地化' },&#10;        { ic:'image', c:'#F5A623', t:'图片安全校验', d:'大小 / 像素 / 来源域名限制，远程缓存隔离' },&#10;      ].map((it, i) =&gt; (&#10;        &lt;Box key={i} style={{ flexDirection:'row', alignItems:'center', gap:18, background:'#10213B', borderRadius:12, padding:'14px 22px' }}&gt;&#10;          &lt;Box style={{ width:46, height:46, borderRadius:12, background:'rgba(255,255,255,0.05)', justifyContent:'center', alignItems:'center' }}&gt;&#10;            &lt;FAIcon name={it.ic} style={{ fill:it.c, width:24, height:24 }} /&gt;&#10;          &lt;/Box&gt;&#10;          &lt;Box style={{ flex:1 }}&gt;&#10;            &lt;Text style={{ fontSize:20, fontWeight:'bold', color:'#EAF1FB' }}&gt;{it.t}&lt;/Text&gt;&#10;            &lt;Text style={{ fontSize:15, color:'#9FB3CC' }}&gt;{it.d}&lt;/Text&gt;&#10;          &lt;/Box&gt;&#10;        &lt;/Box&gt;&#10;      ))}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0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看不见的技术底座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09600" y="1104900"/>
            <a:ext cx="3733800" cy="4800600"/>
          </a:xfrm>
          <a:prstGeom prst="roundRect">
            <a:avLst>
              <a:gd name="adj" fmla="val 4082"/>
            </a:avLst>
          </a:prstGeom>
          <a:gradFill>
            <a:gsLst>
              <a:gs pos="0">
                <a:srgbClr val="16335C"/>
              </a:gs>
              <a:gs pos="100000">
                <a:srgbClr val="0B1424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2571750"/>
            <a:ext cx="533400" cy="53340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14400" y="3276600"/>
            <a:ext cx="31242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1FB"/>
                </a:solidFill>
                <a:latin typeface="Microsoft YaHei"/>
                <a:ea typeface="Microsoft YaHei"/>
              </a:rPr>
              <a:t>稳，才敢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1FB"/>
                </a:solidFill>
                <a:latin typeface="Microsoft YaHei"/>
                <a:ea typeface="Microsoft YaHei"/>
              </a:rPr>
              <a:t>交给群友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14400" y="4162425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3BF"/>
                </a:solidFill>
                <a:latin typeface="Microsoft YaHei"/>
                <a:ea typeface="Microsoft YaHei"/>
              </a:rPr>
              <a:t>异步、限流、安全校验，一个都不少。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4648200" y="1162050"/>
            <a:ext cx="6934200" cy="704850"/>
          </a:xfrm>
          <a:prstGeom prst="roundRect">
            <a:avLst>
              <a:gd name="adj" fmla="val 1621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4857750" y="12954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962525" y="1400175"/>
            <a:ext cx="228600" cy="228600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467350" y="1314450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1FB"/>
                </a:solidFill>
                <a:latin typeface="Microsoft YaHei"/>
                <a:ea typeface="Microsoft YaHei"/>
              </a:rPr>
              <a:t>异步缓存与后台刷新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467350" y="154305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内存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磁盘双层缓存，定时刷新，群内秒回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648200" y="2162175"/>
            <a:ext cx="6934200" cy="704850"/>
          </a:xfrm>
          <a:prstGeom prst="roundRect">
            <a:avLst>
              <a:gd name="adj" fmla="val 1621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4857750" y="22955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2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962525" y="2400300"/>
            <a:ext cx="228600" cy="228600"/>
          </a:xfrm>
          <a:prstGeom prst="rect">
            <a:avLst/>
          </a:prstGeom>
          <a:ln/>
        </p:spPr>
      </p:pic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467350" y="231457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1FB"/>
                </a:solidFill>
                <a:latin typeface="Microsoft YaHei"/>
                <a:ea typeface="Microsoft YaHei"/>
              </a:rPr>
              <a:t>全局限流与重试退避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467350" y="254317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最小请求间隔、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429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冷却、失败自动退避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4648200" y="3152775"/>
            <a:ext cx="6934200" cy="704850"/>
          </a:xfrm>
          <a:prstGeom prst="roundRect">
            <a:avLst>
              <a:gd name="adj" fmla="val 1621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4857750" y="32861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962525" y="3390900"/>
            <a:ext cx="228600" cy="2286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467350" y="330517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1FB"/>
                </a:solidFill>
                <a:latin typeface="Microsoft YaHei"/>
                <a:ea typeface="Microsoft YaHei"/>
              </a:rPr>
              <a:t>SSRF </a:t>
            </a:r>
            <a:r>
              <a:rPr lang="zh-CN" sz="1500" b="1">
                <a:solidFill>
                  <a:srgbClr val="EAF1FB"/>
                </a:solidFill>
                <a:latin typeface="Microsoft YaHei"/>
                <a:ea typeface="Microsoft YaHei"/>
              </a:rPr>
              <a:t>防护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467350" y="353377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Companion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路由白名单，杜绝任意网页截图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648200" y="4152900"/>
            <a:ext cx="6934200" cy="704850"/>
          </a:xfrm>
          <a:prstGeom prst="roundRect">
            <a:avLst>
              <a:gd name="adj" fmla="val 1621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4857750" y="42862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3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962525" y="4391025"/>
            <a:ext cx="228600" cy="228600"/>
          </a:xfrm>
          <a:prstGeom prst="rect">
            <a:avLst/>
          </a:prstGeom>
          <a:ln/>
        </p:spPr>
      </p:pic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467350" y="4305300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AF1FB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EAF1FB"/>
                </a:solidFill>
                <a:latin typeface="Microsoft YaHei"/>
                <a:ea typeface="Microsoft YaHei"/>
              </a:rPr>
              <a:t>翻译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467350" y="453390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内置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/ OpenAI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兼容，遵循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HD2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术语本地化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4648200" y="5143500"/>
            <a:ext cx="6934200" cy="704850"/>
          </a:xfrm>
          <a:prstGeom prst="roundRect">
            <a:avLst>
              <a:gd name="adj" fmla="val 16216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4857750" y="5276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pic>
        <p:nvPicPr>
          <p:cNvPr id="3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962525" y="5381625"/>
            <a:ext cx="228600" cy="228600"/>
          </a:xfrm>
          <a:prstGeom prst="rect">
            <a:avLst/>
          </a:prstGeom>
          <a:ln/>
        </p:spPr>
      </p:pic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467350" y="5295900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AF1FB"/>
                </a:solidFill>
                <a:latin typeface="Microsoft YaHei"/>
                <a:ea typeface="Microsoft YaHei"/>
              </a:rPr>
              <a:t>图片安全校验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467350" y="5524500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大小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像素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来源域名限制，远程缓存隔离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模块架构一览&lt;/Text&gt;&#10;  &lt;/Box&gt;&#10;  &lt;Box style={{ height:504, flexDirection:'column', justifyContent:'space-between' }}&gt;&#10;    {[&#10;      { name:'数据层', c:'#3D9BE9', mods:['Community API', 'Steam News', 'Companion', 'Helldivers Wiki', '银河快报 B站'] },&#10;      { name:'服务编排', c:'#3D9BE9', mods:['缓存', 'AI 翻译', '查询', '图片渲染 (services)'] },&#10;      { name:'指令 / 推送', c:'#F5A623', mods:['AstrBot 指令', '主动消息 (main.py)'] },&#10;      { name:'平台层', c:'#5BA85B', mods:['QQ', 'QQ 官方', 'Telegram', 'Discord'] },&#10;    ].map((layer, i) =&gt; (&#10;      &lt;Box key={i}&gt;&#10;        &lt;Box style={{ background:'#10213B', borderRadius:12, padding:'14px 22px', flexDirection:'row', alignItems:'center', gap:18, borderLeft:`4px solid ${layer.c}` }}&gt;&#10;          &lt;Text style={{ fontSize:19, fontWeight:'bold', color:layer.c, width:120 }}&gt;{layer.name}&lt;/Text&gt;&#10;          &lt;Box style={{ flex:1, flexDirection:'row', flexWrap:'wrap', gap:10 }}&gt;&#10;            {layer.mods.map((m, j) =&gt; (&#10;              &lt;Box key={j} style={{ background:'rgba(255,255,255,0.05)', borderRadius:8, padding:'8px 16px' }}&gt;&#10;                &lt;Text style={{ fontSize:16, color:'#EAF1FB' }}&gt;{m}&lt;/Text&gt;&#10;              &lt;/Box&gt;&#10;            ))}&#10;          &lt;/Box&gt;&#10;        &lt;/Box&gt;&#10;        {i &lt; 3 &amp;&amp; &lt;Box style={{ alignItems:'center', padding:'4px 0' }}&gt;&lt;FAIcon name='arrow-down' style={{ fill:'#8FA3BF', width:20, height:20 }} /&gt;&lt;/Box&gt;}&#10;      &lt;/Box&gt;&#10;    ))}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模块架构一览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47700" y="11049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47700" y="1104900"/>
            <a:ext cx="10972800" cy="609600"/>
          </a:xfrm>
          <a:custGeom>
            <a:pathLst>
              <a:path w="1152" h="6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6"/>
                </a:lnTo>
                <a:cubicBezTo>
                  <a:pt x="4" y="60"/>
                  <a:pt x="7" y="63"/>
                  <a:pt x="10" y="64"/>
                </a:cubicBezTo>
                <a:cubicBezTo>
                  <a:pt x="4" y="63"/>
                  <a:pt x="0" y="58"/>
                  <a:pt x="0" y="5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D9BE9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57250" y="1304925"/>
            <a:ext cx="114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9BE9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2171700" y="1238250"/>
            <a:ext cx="14478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324100" y="13144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Community API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3714750" y="1238250"/>
            <a:ext cx="12096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867150" y="1314450"/>
            <a:ext cx="904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Steam News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019675" y="1238250"/>
            <a:ext cx="115252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172075" y="1314450"/>
            <a:ext cx="84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Companion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267450" y="1238250"/>
            <a:ext cx="139065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19850" y="13144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Helldivers Wiki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753350" y="1238250"/>
            <a:ext cx="12096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905750" y="1314450"/>
            <a:ext cx="904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银河快报</a:t>
            </a: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 B</a:t>
            </a: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站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00750" y="1752600"/>
            <a:ext cx="190500" cy="190500"/>
          </a:xfrm>
          <a:prstGeom prst="rect">
            <a:avLst/>
          </a:prstGeom>
          <a:ln/>
        </p:spPr>
      </p:pic>
      <p:sp>
        <p:nvSpPr>
          <p:cNvPr id="29" name=""/>
          <p:cNvSpPr/>
          <p:nvPr/>
        </p:nvSpPr>
        <p:spPr>
          <a:xfrm rot="0" flipH="0" flipV="0">
            <a:off x="647700" y="2505075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47700" y="2505075"/>
            <a:ext cx="10972800" cy="609600"/>
          </a:xfrm>
          <a:custGeom>
            <a:pathLst>
              <a:path w="1152" h="6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6"/>
                </a:lnTo>
                <a:cubicBezTo>
                  <a:pt x="4" y="60"/>
                  <a:pt x="7" y="63"/>
                  <a:pt x="10" y="64"/>
                </a:cubicBezTo>
                <a:cubicBezTo>
                  <a:pt x="4" y="63"/>
                  <a:pt x="0" y="58"/>
                  <a:pt x="0" y="5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D9BE9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57250" y="2705100"/>
            <a:ext cx="114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D9BE9"/>
                </a:solidFill>
                <a:latin typeface="Microsoft YaHei"/>
                <a:ea typeface="Microsoft YaHei"/>
              </a:rPr>
              <a:t>服务编排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2171700" y="2638425"/>
            <a:ext cx="6096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324100" y="27146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缓存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2876550" y="2638425"/>
            <a:ext cx="80962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028950" y="2714625"/>
            <a:ext cx="50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翻译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781425" y="2638425"/>
            <a:ext cx="6096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933825" y="27146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查询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486275" y="2638425"/>
            <a:ext cx="16383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638675" y="2714625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图片渲染</a:t>
            </a: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 (services)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00750" y="3152775"/>
            <a:ext cx="190500" cy="190500"/>
          </a:xfrm>
          <a:prstGeom prst="rect">
            <a:avLst/>
          </a:prstGeom>
          <a:ln/>
        </p:spPr>
      </p:pic>
      <p:sp>
        <p:nvSpPr>
          <p:cNvPr id="41" name=""/>
          <p:cNvSpPr/>
          <p:nvPr/>
        </p:nvSpPr>
        <p:spPr>
          <a:xfrm rot="0" flipH="0" flipV="0">
            <a:off x="647700" y="3895725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47700" y="3895725"/>
            <a:ext cx="10972800" cy="609600"/>
          </a:xfrm>
          <a:custGeom>
            <a:pathLst>
              <a:path w="1152" h="6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6"/>
                </a:lnTo>
                <a:cubicBezTo>
                  <a:pt x="4" y="60"/>
                  <a:pt x="7" y="63"/>
                  <a:pt x="10" y="64"/>
                </a:cubicBezTo>
                <a:cubicBezTo>
                  <a:pt x="4" y="63"/>
                  <a:pt x="0" y="58"/>
                  <a:pt x="0" y="5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A623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57250" y="4095750"/>
            <a:ext cx="114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A623"/>
                </a:solidFill>
                <a:latin typeface="Microsoft YaHei"/>
                <a:ea typeface="Microsoft YaHei"/>
              </a:rPr>
              <a:t>指令</a:t>
            </a:r>
            <a:r>
              <a:rPr lang="en-US" sz="1425" b="1">
                <a:solidFill>
                  <a:srgbClr val="F5A623"/>
                </a:solidFill>
                <a:latin typeface="Microsoft YaHei"/>
                <a:ea typeface="Microsoft YaHei"/>
              </a:rPr>
              <a:t> / </a:t>
            </a:r>
            <a:r>
              <a:rPr lang="zh-CN" sz="1425" b="1">
                <a:solidFill>
                  <a:srgbClr val="F5A623"/>
                </a:solidFill>
                <a:latin typeface="Microsoft YaHei"/>
                <a:ea typeface="Microsoft YaHei"/>
              </a:rPr>
              <a:t>推送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2171700" y="4029075"/>
            <a:ext cx="120015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324100" y="4105275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AstrBot </a:t>
            </a: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指令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467100" y="4029075"/>
            <a:ext cx="16383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619500" y="4105275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主动消息</a:t>
            </a: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 (main.py)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00750" y="4543425"/>
            <a:ext cx="190500" cy="190500"/>
          </a:xfrm>
          <a:prstGeom prst="rect">
            <a:avLst/>
          </a:prstGeom>
          <a:ln/>
        </p:spPr>
      </p:pic>
      <p:sp>
        <p:nvSpPr>
          <p:cNvPr id="49" name=""/>
          <p:cNvSpPr/>
          <p:nvPr/>
        </p:nvSpPr>
        <p:spPr>
          <a:xfrm rot="0" flipH="0" flipV="0">
            <a:off x="647700" y="52959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47700" y="5295900"/>
            <a:ext cx="10972800" cy="609600"/>
          </a:xfrm>
          <a:custGeom>
            <a:pathLst>
              <a:path w="1152" h="6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6"/>
                </a:lnTo>
                <a:cubicBezTo>
                  <a:pt x="4" y="60"/>
                  <a:pt x="7" y="63"/>
                  <a:pt x="10" y="64"/>
                </a:cubicBezTo>
                <a:cubicBezTo>
                  <a:pt x="4" y="63"/>
                  <a:pt x="0" y="58"/>
                  <a:pt x="0" y="5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5BA85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57250" y="5495925"/>
            <a:ext cx="114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5BA85B"/>
                </a:solidFill>
                <a:latin typeface="Microsoft YaHei"/>
                <a:ea typeface="Microsoft YaHei"/>
              </a:rPr>
              <a:t>平台层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2171700" y="5429250"/>
            <a:ext cx="5619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324100" y="5505450"/>
            <a:ext cx="257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QQ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2828925" y="5429250"/>
            <a:ext cx="9048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981325" y="5505450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QQ </a:t>
            </a:r>
            <a:r>
              <a:rPr lang="zh-CN" sz="1200">
                <a:solidFill>
                  <a:srgbClr val="EAF1FB"/>
                </a:solidFill>
                <a:latin typeface="Microsoft YaHei"/>
                <a:ea typeface="Microsoft YaHei"/>
              </a:rPr>
              <a:t>官方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829050" y="5429250"/>
            <a:ext cx="97155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981450" y="5505450"/>
            <a:ext cx="66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Telegram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895850" y="5429250"/>
            <a:ext cx="866775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048250" y="5505450"/>
            <a:ext cx="561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AF1FB"/>
                </a:solidFill>
                <a:latin typeface="Microsoft YaHei"/>
                <a:ea typeface="Microsoft YaHei"/>
              </a:rPr>
              <a:t>Discord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2" name="" descr="&lt;Slide style={{ width:'1280px', height:'720px', background:'#0B1424', padding:'20px 64px', flexDirection:'column' }}&gt;&#10;  &lt;Box style={{ height:96, flexDirection:'row', alignItems:'center' }}&gt;&#10;    &lt;Box style={{ width:8, height:48, background:'#3D9BE9', borderRadius:4, marginRight:18 }} /&gt;&#10;    &lt;Text style={{ fontSize:36, fontWeight:'bold', color:'#EAF1FB' }}&gt;三步装上战略终端&lt;/Text&gt;&#10;  &lt;/Box&gt;&#10;  &lt;Box style={{ height:504, flexDirection:'row', gap:32 }}&gt;&#10;    &lt;Box style={{ width:'34%', background:'linear-gradient(160deg,#16335C 0%,#0B1424 100%)', borderRadius:16, padding:32, justifyContent:'center' }}&gt;&#10;      &lt;FAIcon name='rocket' style={{ fill:'#F5A623', width:56, height:56, marginBottom:18 }} /&gt;&#10;      &lt;Text style={{ fontSize:24, fontWeight:'bold', color:'#EAF1FB', lineHeight:1.4 }}&gt;几分钟{'\n'}就能上线&lt;/Text&gt;&#10;      &lt;Text style={{ fontSize:15, color:'#8FA3BF', lineHeight:1.6, marginTop:12 }}&gt;推荐插件市场一键装，手动也只需几条命令。&lt;/Text&gt;&#10;    &lt;/Box&gt;&#10;    &lt;Box style={{ flex:1, flexDirection:'column', justifyContent:'space-between', padding:'4px 0' }}&gt;&#10;      {[&#10;        { n:'1', t:'安装插件', d:'插件市场搜「绝地潜兵2数据查询助手」一键装，或 git clone 到插件目录', cmd:'git clone .../astrbot_plugin_Helldivers' },&#10;        { n:'2', t:'安装依赖', d:'安装 Python 依赖，并准备 Chromium 截图环境', cmd:'pip install -r requirements.txt' },&#10;        { n:'3', t:'启用配置', d:'WebUI 启用插件并重载，填写 api_contact 邮箱即可出图', cmd:'python -m playwright install chromium' },&#10;      ].map((it, i) =&gt; (&#10;        &lt;Box key={i} style={{ flexDirection:'row', alignItems:'center', gap:18, background:'#10213B', borderRadius:14, padding:'16px 22px' }}&gt;&#10;          &lt;Box style={{ width:50, height:50, borderRadius:50, background:'#3D9BE9', justifyContent:'center', alignItems:'center' }}&gt;&#10;            &lt;Text style={{ fontSize:24, fontWeight:'bold', color:'#0B1424' }}&gt;{it.n}&lt;/Text&gt;&#10;          &lt;/Box&gt;&#10;          &lt;Box style={{ flex:1 }}&gt;&#10;            &lt;Text style={{ fontSize:21, fontWeight:'bold', color:'#EAF1FB' }}&gt;{it.t}&lt;/Text&gt;&#10;            &lt;Text style={{ fontSize:15, color:'#9FB3CC', lineHeight:1.4, marginTop:2 }}&gt;{it.d}&lt;/Text&gt;&#10;            &lt;Text style={{ fontSize:15, fontFamily:'Consolas', color:'#F5A623', marginTop:6 }}&gt;{it.cmd}&lt;/Text&gt;&#10;          &lt;/Box&gt;&#10;        &lt;/Box&gt;&#10;      ))}&#10;    &lt;/Box&gt;&#10;  &lt;/Box&gt;&#10;  &lt;Box style={{ height:60, flexDirection:'row', justifyContent:'space-between', alignItems:'center' }}&gt;&#10;    &lt;Text style={{ fontSize:14, color:'#8FA3BF' }}&gt;HD2 · 绝地潜兵2数据查询助手&lt;/Text&gt;&#10;    &lt;Text style={{ fontSize:14, color:'#8FA3BF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1910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57250" y="43815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EAF1FB"/>
                </a:solidFill>
                <a:latin typeface="Microsoft YaHei"/>
                <a:ea typeface="Microsoft YaHei"/>
              </a:rPr>
              <a:t>三步装上战略终端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1104900"/>
            <a:ext cx="3733800" cy="4800600"/>
          </a:xfrm>
          <a:prstGeom prst="roundRect">
            <a:avLst>
              <a:gd name="adj" fmla="val 4082"/>
            </a:avLst>
          </a:prstGeom>
          <a:gradFill>
            <a:gsLst>
              <a:gs pos="0">
                <a:srgbClr val="16335C"/>
              </a:gs>
              <a:gs pos="100000">
                <a:srgbClr val="0B1424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2571750"/>
            <a:ext cx="533400" cy="5334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14400" y="3276600"/>
            <a:ext cx="31242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1FB"/>
                </a:solidFill>
                <a:latin typeface="Microsoft YaHei"/>
                <a:ea typeface="Microsoft YaHei"/>
              </a:rPr>
              <a:t>几分钟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EAF1FB"/>
                </a:solidFill>
                <a:latin typeface="Microsoft YaHei"/>
                <a:ea typeface="Microsoft YaHei"/>
              </a:rPr>
              <a:t>就能上线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14400" y="4162425"/>
            <a:ext cx="312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A3BF"/>
                </a:solidFill>
                <a:latin typeface="Microsoft YaHei"/>
                <a:ea typeface="Microsoft YaHei"/>
              </a:rPr>
              <a:t>推荐插件市场一键装，手动也只需几条命令。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648200" y="1143000"/>
            <a:ext cx="6934200" cy="1047750"/>
          </a:xfrm>
          <a:prstGeom prst="roundRect">
            <a:avLst>
              <a:gd name="adj" fmla="val 12727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4857750" y="1428750"/>
            <a:ext cx="476250" cy="476250"/>
          </a:xfrm>
          <a:prstGeom prst="roundRect">
            <a:avLst>
              <a:gd name="adj" fmla="val 10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029200" y="15335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14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505450" y="1295400"/>
            <a:ext cx="586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安装插件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505450" y="1562100"/>
            <a:ext cx="5867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插件市场搜「绝地潜兵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数据查询助手」一键装，或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git clone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到插件目录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505450" y="1866900"/>
            <a:ext cx="586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A623"/>
                </a:solidFill>
                <a:latin typeface="Consolas"/>
                <a:ea typeface="Consolas"/>
              </a:rPr>
              <a:t>git clone .../astrbot_plugin_Helldivers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648200" y="2981325"/>
            <a:ext cx="6934200" cy="1047750"/>
          </a:xfrm>
          <a:prstGeom prst="roundRect">
            <a:avLst>
              <a:gd name="adj" fmla="val 12727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4857750" y="3267075"/>
            <a:ext cx="476250" cy="476250"/>
          </a:xfrm>
          <a:prstGeom prst="roundRect">
            <a:avLst>
              <a:gd name="adj" fmla="val 10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029200" y="3371850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14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505450" y="3133725"/>
            <a:ext cx="586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安装依赖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505450" y="3400425"/>
            <a:ext cx="5867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安装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Python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依赖，并准备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Chromium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截图环境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505450" y="3705225"/>
            <a:ext cx="586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A623"/>
                </a:solidFill>
                <a:latin typeface="Consolas"/>
                <a:ea typeface="Consolas"/>
              </a:rPr>
              <a:t>pip install -r requirements.txt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4648200" y="4819650"/>
            <a:ext cx="6934200" cy="1047750"/>
          </a:xfrm>
          <a:prstGeom prst="roundRect">
            <a:avLst>
              <a:gd name="adj" fmla="val 12727"/>
            </a:avLst>
          </a:prstGeom>
          <a:solidFill>
            <a:srgbClr val="10213B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4857750" y="5105400"/>
            <a:ext cx="476250" cy="476250"/>
          </a:xfrm>
          <a:prstGeom prst="roundRect">
            <a:avLst>
              <a:gd name="adj" fmla="val 100000"/>
            </a:avLst>
          </a:prstGeom>
          <a:solidFill>
            <a:srgbClr val="3D9BE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029200" y="521017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B14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505450" y="4972050"/>
            <a:ext cx="586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AF1FB"/>
                </a:solidFill>
                <a:latin typeface="Microsoft YaHei"/>
                <a:ea typeface="Microsoft YaHei"/>
              </a:rPr>
              <a:t>启用配置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505450" y="5238750"/>
            <a:ext cx="5867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WebUI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启用插件并重载，填写</a:t>
            </a:r>
            <a:r>
              <a:rPr lang="en-US" sz="1125">
                <a:solidFill>
                  <a:srgbClr val="9FB3CC"/>
                </a:solidFill>
                <a:latin typeface="Microsoft YaHei"/>
                <a:ea typeface="Microsoft YaHei"/>
              </a:rPr>
              <a:t> api_contact </a:t>
            </a:r>
            <a:r>
              <a:rPr lang="zh-CN" sz="1125">
                <a:solidFill>
                  <a:srgbClr val="9FB3CC"/>
                </a:solidFill>
                <a:latin typeface="Microsoft YaHei"/>
                <a:ea typeface="Microsoft YaHei"/>
              </a:rPr>
              <a:t>邮箱即可出图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505450" y="5543550"/>
            <a:ext cx="586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5A623"/>
                </a:solidFill>
                <a:latin typeface="Consolas"/>
                <a:ea typeface="Consolas"/>
              </a:rPr>
              <a:t>python -m playwright install chromium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HD2 · 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绝地潜兵</a:t>
            </a: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2</a:t>
            </a:r>
            <a:r>
              <a:rPr lang="zh-CN" sz="1050">
                <a:solidFill>
                  <a:srgbClr val="8FA3BF"/>
                </a:solidFill>
                <a:latin typeface="Microsoft YaHei"/>
                <a:ea typeface="Microsoft YaHei"/>
              </a:rPr>
              <a:t>数据查询助手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125200" y="6115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3BF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0" name="" descr="&lt;Slide style={{ width:'1280px', height:'720px', background:'#0B1424', position:'relative', overflow:'hidden' }}&gt;&#10;  &lt;svg width='1280' height='720' viewBox='0 0 1280 720' style={{ position:'absolute', top:0, left:0 }}&gt;&#10;    &lt;defs&gt;&#10;      &lt;radialGradient id='endglow' cx='50%' cy='42%' r='55%'&gt;&#10;        &lt;stop offset='0%' stopColor='#16335C' stopOpacity='0.9' /&gt;&#10;        &lt;stop offset='100%' stopColor='#0B1424' stopOpacity='0' /&gt;&#10;      &lt;/radialGradient&gt;&#10;    &lt;/defs&gt;&#10;    &lt;rect width='1280' height='720' fill='#0B1424' /&gt;&#10;    &lt;ellipse cx='640' cy='320' rx='760' ry='420' fill='url(#endglow)' /&gt;&#10;    &lt;circle cx='300' cy='160' r='2' fill='#EAF1FB' /&gt;&#10;    &lt;circle cx='1000' cy='140' r='2.2' fill='#F5A623' /&gt;&#10;    &lt;circle cx='1080' cy='520' r='2' fill='#EAF1FB' /&gt;&#10;    &lt;circle cx='220' cy='540' r='1.8' fill='#EAF1FB' /&gt;&#10;    &lt;circle cx='960' cy='600' r='2' fill='#3D9BE9' /&gt;&#10;    &lt;circle cx='360' cy='600' r='1.6' fill='#EAF1FB' /&gt;&#10;    &lt;circle cx='640' cy='120' r='2' fill='#EAF1FB' /&gt;&#10;    &lt;ellipse cx='640' cy='360' rx='900' ry='360' fill='none' stroke='#3D9BE9' strokeOpacity='0.07' strokeWidth='1' /&gt;&#10;  &lt;/svg&gt;&#10;  &lt;Box style={{ position:'absolute', top:0, left:0, width:'100%', height:'100%', background:'rgba(11,20,36,0.4)' }} /&gt;&#10;  &lt;Box style={{ position:'relative', zIndex:2, height:'100%', flexDirection:'column', alignItems:'center', justifyContent:'center' }}&gt;&#10;    &lt;FAIcon name='star' style={{ fill:'#F5A623', width:54, height:54, marginBottom:22 }} /&gt;&#10;    &lt;Text style={{ fontSize:18, letterSpacing:6, color:'#3D9BE9', fontWeight:'bold', marginBottom:18 }}&gt;FOR SUPER EARTH&lt;/Text&gt;&#10;    &lt;Text style={{ fontSize:60, fontWeight:'bold', color:'#EAF1FB', lineHeight:1.2, textAlign:'center' }}&gt;为了超级地球{'\n'}为了管理式民主&lt;/Text&gt;&#10;    &lt;Box style={{ width:140, height:4, background:'#F5A623', margin:'26px 0' }} /&gt;&#10;    &lt;Text style={{ fontSize:22, color:'#9FB3CC', textAlign:'center', lineHeight:1.6 }}&gt;把战略终端部署到你的群，让每一场战争都有中文情报。&lt;/Text&gt;&#10;    &lt;Box style={{ flexDirection:'row', alignItems:'center', gap:12, marginTop:24, background:'#10213B', border:'1px solid #16335C', borderRadius:10, padding:'12px 22px' }}&gt;&#10;      &lt;FAIcon name='github' style={{ fill:'#EAF1FB', width:22, height:22 }} /&gt;&#10;      &lt;Text style={{ fontSize:18, fontFamily:'Consolas', color:'#EAF1FB' }}&gt;github.com/fiatlux2333/astrbot_plugin_Helldivers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/>
          </a:solidFill>
          <a:ln/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424">
              <a:alpha val="40000"/>
            </a:srgbClr>
          </a:solidFill>
          <a:ln/>
        </p:spPr>
        <p:txBody>
          <a:bodyPr/>
          <a:p/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838825" y="1247775"/>
            <a:ext cx="514350" cy="514350"/>
          </a:xfrm>
          <a:prstGeom prst="rect">
            <a:avLst/>
          </a:prstGeom>
          <a:ln/>
        </p:spPr>
      </p:pic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857750" y="1971675"/>
            <a:ext cx="247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3D9BE9"/>
                </a:solidFill>
                <a:latin typeface="Microsoft YaHei"/>
                <a:ea typeface="Microsoft YaHei"/>
              </a:rPr>
              <a:t>FOR SUPER EARTH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095750" y="2352675"/>
            <a:ext cx="4000500" cy="16478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500" b="1">
                <a:solidFill>
                  <a:srgbClr val="EAF1FB"/>
                </a:solidFill>
                <a:latin typeface="Microsoft YaHei"/>
                <a:ea typeface="Microsoft YaHei"/>
              </a:rPr>
              <a:t>为了超级地球</a:t>
            </a:r>
            <a:endParaRPr/>
          </a:p>
          <a:p>
            <a:pPr algn="ctr">
              <a:lnSpc>
                <a:spcPct val="120000"/>
              </a:lnSpc>
            </a:pPr>
            <a:r>
              <a:rPr lang="zh-CN" sz="4500" b="1">
                <a:solidFill>
                  <a:srgbClr val="EAF1FB"/>
                </a:solidFill>
                <a:latin typeface="Microsoft YaHei"/>
                <a:ea typeface="Microsoft YaHei"/>
              </a:rPr>
              <a:t>为了管理式民主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429250" y="4248150"/>
            <a:ext cx="13335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3476625" y="4533900"/>
            <a:ext cx="5238750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650">
                <a:solidFill>
                  <a:srgbClr val="9FB3CC"/>
                </a:solidFill>
                <a:latin typeface="Microsoft YaHei"/>
                <a:ea typeface="Microsoft YaHei"/>
              </a:rPr>
              <a:t>把战略终端部署到你的群，让每一场战争都有中文情报。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457575" y="5172075"/>
            <a:ext cx="5276850" cy="438150"/>
          </a:xfrm>
          <a:prstGeom prst="roundRect">
            <a:avLst>
              <a:gd name="adj" fmla="val 21739"/>
            </a:avLst>
          </a:prstGeom>
          <a:solidFill>
            <a:srgbClr val="10213B"/>
          </a:solidFill>
          <a:ln w="12700">
            <a:solidFill>
              <a:srgbClr val="16335C"/>
            </a:solidFill>
            <a:prstDash val="solid"/>
          </a:ln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667125" y="5286375"/>
            <a:ext cx="209550" cy="20955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990975" y="5286375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AF1FB"/>
                </a:solidFill>
                <a:latin typeface="Consolas"/>
                <a:ea typeface="Consolas"/>
              </a:rPr>
              <a:t>github.com/fiatlux2333/astrbot_plugin_Helldivers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2026-08-06T18:59:36Z</dcterms:created>
  <dcterms:modified xsi:type="dcterms:W3CDTF">2026-08-06T18:59:36Z</dcterms:modified>
</cp:coreProperties>
</file>